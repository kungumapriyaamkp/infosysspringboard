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Microsoft YaHei" panose="020B0503020204020204" pitchFamily="34" charset="-122"/>
      <p:regular r:id="rId19"/>
      <p:bold r:id="rId20"/>
    </p:embeddedFont>
    <p:embeddedFont>
      <p:font typeface="Consolas" panose="020B0609020204030204" pitchFamily="49" charset="0"/>
      <p:regular r:id="rId21"/>
      <p:bold r:id="rId22"/>
      <p:italic r:id="rId23"/>
      <p:boldItalic r:id="rId24"/>
    </p:embeddedFont>
    <p:embeddedFont>
      <p:font typeface="Raleway" pitchFamily="2" charset="0"/>
      <p:regular r:id="rId25"/>
    </p:embeddedFont>
    <p:embeddedFont>
      <p:font typeface="Roboto" panose="02000000000000000000" pitchFamily="2"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6099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reuter.com"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204680"/>
            <a:ext cx="7556421" cy="1700927"/>
          </a:xfrm>
          <a:prstGeom prst="rect">
            <a:avLst/>
          </a:prstGeom>
          <a:noFill/>
          <a:ln/>
        </p:spPr>
        <p:txBody>
          <a:bodyPr wrap="square" lIns="0" tIns="0" rIns="0" bIns="0" rtlCol="0" anchor="t"/>
          <a:lstStyle/>
          <a:p>
            <a:pPr marL="0" indent="0" algn="ctr">
              <a:lnSpc>
                <a:spcPts val="4450"/>
              </a:lnSpc>
              <a:buNone/>
            </a:pPr>
            <a:r>
              <a:rPr lang="en-US" sz="4000" b="1" dirty="0">
                <a:solidFill>
                  <a:srgbClr val="1B1B27"/>
                </a:solidFill>
                <a:latin typeface="Microsoft YaHei" panose="020B0503020204020204" pitchFamily="34" charset="-122"/>
                <a:ea typeface="Microsoft YaHei" panose="020B0503020204020204" pitchFamily="34" charset="-122"/>
                <a:cs typeface="Raleway" pitchFamily="34" charset="-120"/>
              </a:rPr>
              <a:t>Knowledge Graph-based Fake News Detection and Analysis System</a:t>
            </a:r>
            <a:endParaRPr lang="en-US" sz="4000" dirty="0">
              <a:latin typeface="Microsoft YaHei" panose="020B0503020204020204" pitchFamily="34" charset="-122"/>
              <a:ea typeface="Microsoft YaHei" panose="020B0503020204020204" pitchFamily="34" charset="-122"/>
            </a:endParaRPr>
          </a:p>
        </p:txBody>
      </p:sp>
      <p:sp>
        <p:nvSpPr>
          <p:cNvPr id="4" name="Text 1"/>
          <p:cNvSpPr/>
          <p:nvPr/>
        </p:nvSpPr>
        <p:spPr>
          <a:xfrm>
            <a:off x="793790" y="4245769"/>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3C3939"/>
                </a:solidFill>
                <a:latin typeface="Roboto" pitchFamily="34" charset="0"/>
                <a:ea typeface="Roboto" pitchFamily="34" charset="-122"/>
                <a:cs typeface="Roboto" pitchFamily="34" charset="-120"/>
              </a:rPr>
              <a:t>By Group 3</a:t>
            </a:r>
            <a:endParaRPr lang="en-US" sz="1750" dirty="0"/>
          </a:p>
        </p:txBody>
      </p:sp>
      <p:sp>
        <p:nvSpPr>
          <p:cNvPr id="5" name="Text 2"/>
          <p:cNvSpPr/>
          <p:nvPr/>
        </p:nvSpPr>
        <p:spPr>
          <a:xfrm>
            <a:off x="793790" y="4863822"/>
            <a:ext cx="7556421" cy="1161098"/>
          </a:xfrm>
          <a:prstGeom prst="rect">
            <a:avLst/>
          </a:prstGeom>
          <a:noFill/>
          <a:ln/>
        </p:spPr>
        <p:txBody>
          <a:bodyPr wrap="square" lIns="0" tIns="0" rIns="0" bIns="0" rtlCol="0" anchor="t"/>
          <a:lstStyle/>
          <a:p>
            <a:pPr marL="0" indent="0" algn="l">
              <a:lnSpc>
                <a:spcPts val="2250"/>
              </a:lnSpc>
              <a:buNone/>
            </a:pPr>
            <a:r>
              <a:rPr lang="en-US" sz="1400" dirty="0">
                <a:solidFill>
                  <a:srgbClr val="3C3939"/>
                </a:solidFill>
                <a:latin typeface="Roboto" pitchFamily="34" charset="0"/>
                <a:ea typeface="Roboto" pitchFamily="34" charset="-122"/>
                <a:cs typeface="Roboto" pitchFamily="34" charset="-120"/>
              </a:rPr>
              <a:t>Isha Sudarshini</a:t>
            </a:r>
          </a:p>
          <a:p>
            <a:pPr marL="0" indent="0" algn="l">
              <a:lnSpc>
                <a:spcPts val="2250"/>
              </a:lnSpc>
              <a:buNone/>
            </a:pPr>
            <a:r>
              <a:rPr lang="en-US" sz="1400" dirty="0">
                <a:solidFill>
                  <a:srgbClr val="3C3939"/>
                </a:solidFill>
                <a:latin typeface="Roboto" pitchFamily="34" charset="0"/>
                <a:ea typeface="Roboto" pitchFamily="34" charset="-122"/>
                <a:cs typeface="Roboto" pitchFamily="34" charset="-120"/>
              </a:rPr>
              <a:t>Aswini P</a:t>
            </a:r>
          </a:p>
          <a:p>
            <a:pPr marL="0" indent="0" algn="l">
              <a:lnSpc>
                <a:spcPts val="2250"/>
              </a:lnSpc>
              <a:buNone/>
            </a:pPr>
            <a:r>
              <a:rPr lang="en-US" sz="1400" dirty="0" err="1">
                <a:solidFill>
                  <a:srgbClr val="3C3939"/>
                </a:solidFill>
                <a:latin typeface="Roboto" pitchFamily="34" charset="0"/>
                <a:ea typeface="Roboto" pitchFamily="34" charset="-122"/>
                <a:cs typeface="Roboto" pitchFamily="34" charset="-120"/>
              </a:rPr>
              <a:t>Kungumapriya</a:t>
            </a:r>
            <a:endParaRPr lang="en-US" sz="1400" dirty="0">
              <a:solidFill>
                <a:srgbClr val="3C3939"/>
              </a:solidFill>
              <a:latin typeface="Roboto" pitchFamily="34" charset="0"/>
              <a:ea typeface="Roboto" pitchFamily="34" charset="-122"/>
              <a:cs typeface="Roboto" pitchFamily="34" charset="-120"/>
            </a:endParaRPr>
          </a:p>
          <a:p>
            <a:pPr marL="0" indent="0" algn="l">
              <a:lnSpc>
                <a:spcPts val="2250"/>
              </a:lnSpc>
              <a:buNone/>
            </a:pPr>
            <a:r>
              <a:rPr lang="en-US" sz="1400" dirty="0">
                <a:solidFill>
                  <a:srgbClr val="3C3939"/>
                </a:solidFill>
                <a:latin typeface="Roboto" pitchFamily="34" charset="0"/>
                <a:ea typeface="Roboto" pitchFamily="34" charset="-122"/>
                <a:cs typeface="Roboto" pitchFamily="34" charset="-120"/>
              </a:rPr>
              <a:t>Varshitha B 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74683"/>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1B1B27"/>
                </a:solidFill>
                <a:latin typeface="Raleway" pitchFamily="34" charset="0"/>
                <a:ea typeface="Raleway" pitchFamily="34" charset="-122"/>
                <a:cs typeface="Raleway" pitchFamily="34" charset="-120"/>
              </a:rPr>
              <a:t>Knowledge Graphs</a:t>
            </a:r>
            <a:endParaRPr lang="en-US" sz="4450" dirty="0"/>
          </a:p>
        </p:txBody>
      </p:sp>
      <p:sp>
        <p:nvSpPr>
          <p:cNvPr id="3" name="Text 1"/>
          <p:cNvSpPr/>
          <p:nvPr/>
        </p:nvSpPr>
        <p:spPr>
          <a:xfrm>
            <a:off x="793790" y="2437090"/>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 </a:t>
            </a:r>
            <a:r>
              <a:rPr lang="en-US" sz="1750" b="1" dirty="0">
                <a:solidFill>
                  <a:srgbClr val="3C3939"/>
                </a:solidFill>
                <a:latin typeface="Roboto" pitchFamily="34" charset="0"/>
                <a:ea typeface="Roboto" pitchFamily="34" charset="-122"/>
                <a:cs typeface="Roboto" pitchFamily="34" charset="-120"/>
              </a:rPr>
              <a:t>Knowledge Graph (KG)</a:t>
            </a:r>
            <a:r>
              <a:rPr lang="en-US" sz="1750" dirty="0">
                <a:solidFill>
                  <a:srgbClr val="3C3939"/>
                </a:solidFill>
                <a:latin typeface="Roboto" pitchFamily="34" charset="0"/>
                <a:ea typeface="Roboto" pitchFamily="34" charset="-122"/>
                <a:cs typeface="Roboto" pitchFamily="34" charset="-120"/>
              </a:rPr>
              <a:t> is a structured representation of knowledge that captures entities and their relationships. In the context of Natural Language Processing (NLP), KGs provide a contextual understanding of information extracted from text, moving beyond simple keyword matching to nuanced semantic comprehension.</a:t>
            </a:r>
            <a:endParaRPr lang="en-US" sz="1750" dirty="0"/>
          </a:p>
        </p:txBody>
      </p:sp>
      <p:sp>
        <p:nvSpPr>
          <p:cNvPr id="4" name="Shape 2"/>
          <p:cNvSpPr/>
          <p:nvPr/>
        </p:nvSpPr>
        <p:spPr>
          <a:xfrm>
            <a:off x="793790" y="3780949"/>
            <a:ext cx="4196358" cy="3173849"/>
          </a:xfrm>
          <a:prstGeom prst="roundRect">
            <a:avLst>
              <a:gd name="adj" fmla="val 4610"/>
            </a:avLst>
          </a:prstGeom>
          <a:solidFill>
            <a:srgbClr val="FFFFFF">
              <a:alpha val="95000"/>
            </a:srgbClr>
          </a:solidFill>
          <a:ln w="30480">
            <a:solidFill>
              <a:srgbClr val="C7C7D0"/>
            </a:solidFill>
            <a:prstDash val="solid"/>
          </a:ln>
        </p:spPr>
      </p:sp>
      <p:sp>
        <p:nvSpPr>
          <p:cNvPr id="5" name="Shape 3"/>
          <p:cNvSpPr/>
          <p:nvPr/>
        </p:nvSpPr>
        <p:spPr>
          <a:xfrm>
            <a:off x="763310" y="3780949"/>
            <a:ext cx="121920" cy="3173849"/>
          </a:xfrm>
          <a:prstGeom prst="roundRect">
            <a:avLst>
              <a:gd name="adj" fmla="val 78139"/>
            </a:avLst>
          </a:prstGeom>
          <a:solidFill>
            <a:srgbClr val="1B1B27"/>
          </a:solidFill>
          <a:ln/>
        </p:spPr>
      </p:sp>
      <p:sp>
        <p:nvSpPr>
          <p:cNvPr id="6" name="Text 4"/>
          <p:cNvSpPr/>
          <p:nvPr/>
        </p:nvSpPr>
        <p:spPr>
          <a:xfrm>
            <a:off x="1142524" y="4038243"/>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Addressing Information Overload</a:t>
            </a:r>
            <a:endParaRPr lang="en-US" sz="2200" dirty="0"/>
          </a:p>
        </p:txBody>
      </p:sp>
      <p:sp>
        <p:nvSpPr>
          <p:cNvPr id="7" name="Text 5"/>
          <p:cNvSpPr/>
          <p:nvPr/>
        </p:nvSpPr>
        <p:spPr>
          <a:xfrm>
            <a:off x="1142524" y="4882991"/>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exponential growth of heterogeneous, unstructured data necessitates efficient methods for integration and analysis.</a:t>
            </a:r>
            <a:endParaRPr lang="en-US" sz="1750" dirty="0"/>
          </a:p>
        </p:txBody>
      </p:sp>
      <p:sp>
        <p:nvSpPr>
          <p:cNvPr id="8" name="Shape 6"/>
          <p:cNvSpPr/>
          <p:nvPr/>
        </p:nvSpPr>
        <p:spPr>
          <a:xfrm>
            <a:off x="5216962" y="3780949"/>
            <a:ext cx="4196358" cy="3173849"/>
          </a:xfrm>
          <a:prstGeom prst="roundRect">
            <a:avLst>
              <a:gd name="adj" fmla="val 4610"/>
            </a:avLst>
          </a:prstGeom>
          <a:solidFill>
            <a:srgbClr val="FFFFFF">
              <a:alpha val="95000"/>
            </a:srgbClr>
          </a:solidFill>
          <a:ln w="30480">
            <a:solidFill>
              <a:srgbClr val="C7C7D0"/>
            </a:solidFill>
            <a:prstDash val="solid"/>
          </a:ln>
        </p:spPr>
      </p:sp>
      <p:sp>
        <p:nvSpPr>
          <p:cNvPr id="9" name="Shape 7"/>
          <p:cNvSpPr/>
          <p:nvPr/>
        </p:nvSpPr>
        <p:spPr>
          <a:xfrm>
            <a:off x="5186482" y="3780949"/>
            <a:ext cx="121920" cy="3173849"/>
          </a:xfrm>
          <a:prstGeom prst="roundRect">
            <a:avLst>
              <a:gd name="adj" fmla="val 78139"/>
            </a:avLst>
          </a:prstGeom>
          <a:solidFill>
            <a:srgbClr val="1B1B27"/>
          </a:solidFill>
          <a:ln/>
        </p:spPr>
      </p:sp>
      <p:sp>
        <p:nvSpPr>
          <p:cNvPr id="10" name="Text 8"/>
          <p:cNvSpPr/>
          <p:nvPr/>
        </p:nvSpPr>
        <p:spPr>
          <a:xfrm>
            <a:off x="5565696" y="4038243"/>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Enhancing Semantic Understanding</a:t>
            </a:r>
            <a:endParaRPr lang="en-US" sz="2200" dirty="0"/>
          </a:p>
        </p:txBody>
      </p:sp>
      <p:sp>
        <p:nvSpPr>
          <p:cNvPr id="11" name="Text 9"/>
          <p:cNvSpPr/>
          <p:nvPr/>
        </p:nvSpPr>
        <p:spPr>
          <a:xfrm>
            <a:off x="5565696" y="4882991"/>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Unlike traditional statistical methods, KGs utilize semantics to allow for more accurate data extraction and sophisticated reasoning.</a:t>
            </a:r>
            <a:endParaRPr lang="en-US" sz="1750" dirty="0"/>
          </a:p>
        </p:txBody>
      </p:sp>
      <p:sp>
        <p:nvSpPr>
          <p:cNvPr id="12" name="Shape 10"/>
          <p:cNvSpPr/>
          <p:nvPr/>
        </p:nvSpPr>
        <p:spPr>
          <a:xfrm>
            <a:off x="9640133" y="3780949"/>
            <a:ext cx="4196358" cy="3173849"/>
          </a:xfrm>
          <a:prstGeom prst="roundRect">
            <a:avLst>
              <a:gd name="adj" fmla="val 4610"/>
            </a:avLst>
          </a:prstGeom>
          <a:solidFill>
            <a:srgbClr val="FFFFFF">
              <a:alpha val="95000"/>
            </a:srgbClr>
          </a:solidFill>
          <a:ln w="30480">
            <a:solidFill>
              <a:srgbClr val="C7C7D0"/>
            </a:solidFill>
            <a:prstDash val="solid"/>
          </a:ln>
        </p:spPr>
      </p:sp>
      <p:sp>
        <p:nvSpPr>
          <p:cNvPr id="13" name="Shape 11"/>
          <p:cNvSpPr/>
          <p:nvPr/>
        </p:nvSpPr>
        <p:spPr>
          <a:xfrm>
            <a:off x="9609653" y="3780949"/>
            <a:ext cx="121920" cy="3173849"/>
          </a:xfrm>
          <a:prstGeom prst="roundRect">
            <a:avLst>
              <a:gd name="adj" fmla="val 78139"/>
            </a:avLst>
          </a:prstGeom>
          <a:solidFill>
            <a:srgbClr val="1B1B27"/>
          </a:solidFill>
          <a:ln/>
        </p:spPr>
      </p:sp>
      <p:sp>
        <p:nvSpPr>
          <p:cNvPr id="14" name="Text 12"/>
          <p:cNvSpPr/>
          <p:nvPr/>
        </p:nvSpPr>
        <p:spPr>
          <a:xfrm>
            <a:off x="9988868" y="40382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Core Application</a:t>
            </a:r>
            <a:endParaRPr lang="en-US" sz="2200" dirty="0"/>
          </a:p>
        </p:txBody>
      </p:sp>
      <p:sp>
        <p:nvSpPr>
          <p:cNvPr id="15" name="Text 13"/>
          <p:cNvSpPr/>
          <p:nvPr/>
        </p:nvSpPr>
        <p:spPr>
          <a:xfrm>
            <a:off x="9988868" y="4528661"/>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KGs transform freeform text into useful, meaningful, and organized information, serving as a compelling tool for solving complex real-world problems.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8048" y="454223"/>
            <a:ext cx="5342334" cy="516255"/>
          </a:xfrm>
          <a:prstGeom prst="rect">
            <a:avLst/>
          </a:prstGeom>
          <a:noFill/>
          <a:ln/>
        </p:spPr>
        <p:txBody>
          <a:bodyPr wrap="none" lIns="0" tIns="0" rIns="0" bIns="0" rtlCol="0" anchor="t"/>
          <a:lstStyle/>
          <a:p>
            <a:pPr marL="0" indent="0" algn="l">
              <a:lnSpc>
                <a:spcPts val="4050"/>
              </a:lnSpc>
              <a:buNone/>
            </a:pPr>
            <a:r>
              <a:rPr lang="en-US" sz="3250" b="1" dirty="0">
                <a:solidFill>
                  <a:srgbClr val="1B1B27"/>
                </a:solidFill>
                <a:latin typeface="Raleway" pitchFamily="34" charset="0"/>
                <a:ea typeface="Raleway" pitchFamily="34" charset="-122"/>
                <a:cs typeface="Raleway" pitchFamily="34" charset="-120"/>
              </a:rPr>
              <a:t>Project Objectives &amp; Scope</a:t>
            </a:r>
            <a:endParaRPr lang="en-US" sz="3250" dirty="0"/>
          </a:p>
        </p:txBody>
      </p:sp>
      <p:pic>
        <p:nvPicPr>
          <p:cNvPr id="3" name="Image 0" descr="preencoded.png"/>
          <p:cNvPicPr>
            <a:picLocks noChangeAspect="1"/>
          </p:cNvPicPr>
          <p:nvPr/>
        </p:nvPicPr>
        <p:blipFill>
          <a:blip r:embed="rId3"/>
          <a:stretch>
            <a:fillRect/>
          </a:stretch>
        </p:blipFill>
        <p:spPr>
          <a:xfrm>
            <a:off x="578048" y="1300758"/>
            <a:ext cx="165140" cy="206454"/>
          </a:xfrm>
          <a:prstGeom prst="rect">
            <a:avLst/>
          </a:prstGeom>
        </p:spPr>
      </p:pic>
      <p:sp>
        <p:nvSpPr>
          <p:cNvPr id="4" name="Shape 1"/>
          <p:cNvSpPr/>
          <p:nvPr/>
        </p:nvSpPr>
        <p:spPr>
          <a:xfrm>
            <a:off x="578048" y="1558528"/>
            <a:ext cx="4381262" cy="22860"/>
          </a:xfrm>
          <a:prstGeom prst="rect">
            <a:avLst/>
          </a:prstGeom>
          <a:solidFill>
            <a:srgbClr val="1B1B27"/>
          </a:solidFill>
          <a:ln/>
        </p:spPr>
      </p:sp>
      <p:sp>
        <p:nvSpPr>
          <p:cNvPr id="5" name="Text 2"/>
          <p:cNvSpPr/>
          <p:nvPr/>
        </p:nvSpPr>
        <p:spPr>
          <a:xfrm>
            <a:off x="578048" y="1686758"/>
            <a:ext cx="2613541" cy="258008"/>
          </a:xfrm>
          <a:prstGeom prst="rect">
            <a:avLst/>
          </a:prstGeom>
          <a:noFill/>
          <a:ln/>
        </p:spPr>
        <p:txBody>
          <a:bodyPr wrap="non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Detect Fake and True News</a:t>
            </a:r>
            <a:endParaRPr lang="en-US" sz="1600" dirty="0"/>
          </a:p>
        </p:txBody>
      </p:sp>
      <p:sp>
        <p:nvSpPr>
          <p:cNvPr id="6" name="Text 3"/>
          <p:cNvSpPr/>
          <p:nvPr/>
        </p:nvSpPr>
        <p:spPr>
          <a:xfrm>
            <a:off x="578048" y="2043827"/>
            <a:ext cx="4381262" cy="5283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Develop a machine learning-based classifier for accurate news credibility assessment.</a:t>
            </a:r>
            <a:endParaRPr lang="en-US" sz="1300" dirty="0"/>
          </a:p>
        </p:txBody>
      </p:sp>
      <p:pic>
        <p:nvPicPr>
          <p:cNvPr id="7" name="Image 1" descr="preencoded.png"/>
          <p:cNvPicPr>
            <a:picLocks noChangeAspect="1"/>
          </p:cNvPicPr>
          <p:nvPr/>
        </p:nvPicPr>
        <p:blipFill>
          <a:blip r:embed="rId4"/>
          <a:stretch>
            <a:fillRect/>
          </a:stretch>
        </p:blipFill>
        <p:spPr>
          <a:xfrm>
            <a:off x="5124450" y="1300758"/>
            <a:ext cx="165140" cy="206454"/>
          </a:xfrm>
          <a:prstGeom prst="rect">
            <a:avLst/>
          </a:prstGeom>
        </p:spPr>
      </p:pic>
      <p:sp>
        <p:nvSpPr>
          <p:cNvPr id="8" name="Shape 4"/>
          <p:cNvSpPr/>
          <p:nvPr/>
        </p:nvSpPr>
        <p:spPr>
          <a:xfrm>
            <a:off x="5124450" y="1558528"/>
            <a:ext cx="4381381" cy="22860"/>
          </a:xfrm>
          <a:prstGeom prst="rect">
            <a:avLst/>
          </a:prstGeom>
          <a:solidFill>
            <a:srgbClr val="1B1B27"/>
          </a:solidFill>
          <a:ln/>
        </p:spPr>
      </p:sp>
      <p:sp>
        <p:nvSpPr>
          <p:cNvPr id="9" name="Text 5"/>
          <p:cNvSpPr/>
          <p:nvPr/>
        </p:nvSpPr>
        <p:spPr>
          <a:xfrm>
            <a:off x="5124450" y="1686758"/>
            <a:ext cx="4381381" cy="516017"/>
          </a:xfrm>
          <a:prstGeom prst="rect">
            <a:avLst/>
          </a:prstGeom>
          <a:noFill/>
          <a:ln/>
        </p:spPr>
        <p:txBody>
          <a:bodyPr wrap="squar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Perform Named Entity Recognition and Relation Extraction</a:t>
            </a:r>
            <a:endParaRPr lang="en-US" sz="1600" dirty="0"/>
          </a:p>
        </p:txBody>
      </p:sp>
      <p:sp>
        <p:nvSpPr>
          <p:cNvPr id="10" name="Text 6"/>
          <p:cNvSpPr/>
          <p:nvPr/>
        </p:nvSpPr>
        <p:spPr>
          <a:xfrm>
            <a:off x="5124450" y="2301835"/>
            <a:ext cx="4381381" cy="5283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Automatically identify key entities and their relationships within news articles.</a:t>
            </a:r>
            <a:endParaRPr lang="en-US" sz="1300" dirty="0"/>
          </a:p>
        </p:txBody>
      </p:sp>
      <p:pic>
        <p:nvPicPr>
          <p:cNvPr id="11" name="Image 2" descr="preencoded.png"/>
          <p:cNvPicPr>
            <a:picLocks noChangeAspect="1"/>
          </p:cNvPicPr>
          <p:nvPr/>
        </p:nvPicPr>
        <p:blipFill>
          <a:blip r:embed="rId5"/>
          <a:stretch>
            <a:fillRect/>
          </a:stretch>
        </p:blipFill>
        <p:spPr>
          <a:xfrm>
            <a:off x="9670971" y="1300758"/>
            <a:ext cx="165140" cy="206454"/>
          </a:xfrm>
          <a:prstGeom prst="rect">
            <a:avLst/>
          </a:prstGeom>
        </p:spPr>
      </p:pic>
      <p:sp>
        <p:nvSpPr>
          <p:cNvPr id="12" name="Shape 7"/>
          <p:cNvSpPr/>
          <p:nvPr/>
        </p:nvSpPr>
        <p:spPr>
          <a:xfrm>
            <a:off x="9670971" y="1558528"/>
            <a:ext cx="4381381" cy="22860"/>
          </a:xfrm>
          <a:prstGeom prst="rect">
            <a:avLst/>
          </a:prstGeom>
          <a:solidFill>
            <a:srgbClr val="1B1B27"/>
          </a:solidFill>
          <a:ln/>
        </p:spPr>
      </p:sp>
      <p:sp>
        <p:nvSpPr>
          <p:cNvPr id="13" name="Text 8"/>
          <p:cNvSpPr/>
          <p:nvPr/>
        </p:nvSpPr>
        <p:spPr>
          <a:xfrm>
            <a:off x="9670971" y="1686758"/>
            <a:ext cx="3734157" cy="258008"/>
          </a:xfrm>
          <a:prstGeom prst="rect">
            <a:avLst/>
          </a:prstGeom>
          <a:noFill/>
          <a:ln/>
        </p:spPr>
        <p:txBody>
          <a:bodyPr wrap="non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Build and Visualize a Knowledge Graph</a:t>
            </a:r>
            <a:endParaRPr lang="en-US" sz="1600" dirty="0"/>
          </a:p>
        </p:txBody>
      </p:sp>
      <p:sp>
        <p:nvSpPr>
          <p:cNvPr id="14" name="Text 9"/>
          <p:cNvSpPr/>
          <p:nvPr/>
        </p:nvSpPr>
        <p:spPr>
          <a:xfrm>
            <a:off x="9670971" y="2043827"/>
            <a:ext cx="4381381" cy="5283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Create a structured visual representation of extracted entities and their interconnections.</a:t>
            </a:r>
            <a:endParaRPr lang="en-US" sz="1300" dirty="0"/>
          </a:p>
        </p:txBody>
      </p:sp>
      <p:pic>
        <p:nvPicPr>
          <p:cNvPr id="15" name="Image 3" descr="preencoded.png"/>
          <p:cNvPicPr>
            <a:picLocks noChangeAspect="1"/>
          </p:cNvPicPr>
          <p:nvPr/>
        </p:nvPicPr>
        <p:blipFill>
          <a:blip r:embed="rId6"/>
          <a:stretch>
            <a:fillRect/>
          </a:stretch>
        </p:blipFill>
        <p:spPr>
          <a:xfrm>
            <a:off x="578048" y="3119199"/>
            <a:ext cx="165140" cy="206454"/>
          </a:xfrm>
          <a:prstGeom prst="rect">
            <a:avLst/>
          </a:prstGeom>
        </p:spPr>
      </p:pic>
      <p:sp>
        <p:nvSpPr>
          <p:cNvPr id="16" name="Shape 10"/>
          <p:cNvSpPr/>
          <p:nvPr/>
        </p:nvSpPr>
        <p:spPr>
          <a:xfrm>
            <a:off x="578048" y="3376970"/>
            <a:ext cx="4381262" cy="22860"/>
          </a:xfrm>
          <a:prstGeom prst="rect">
            <a:avLst/>
          </a:prstGeom>
          <a:solidFill>
            <a:srgbClr val="1B1B27"/>
          </a:solidFill>
          <a:ln/>
        </p:spPr>
      </p:sp>
      <p:sp>
        <p:nvSpPr>
          <p:cNvPr id="17" name="Text 11"/>
          <p:cNvSpPr/>
          <p:nvPr/>
        </p:nvSpPr>
        <p:spPr>
          <a:xfrm>
            <a:off x="578048" y="3505200"/>
            <a:ext cx="4381262" cy="516017"/>
          </a:xfrm>
          <a:prstGeom prst="rect">
            <a:avLst/>
          </a:prstGeom>
          <a:noFill/>
          <a:ln/>
        </p:spPr>
        <p:txBody>
          <a:bodyPr wrap="squar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Perform Community Detection and Centrality Analysis</a:t>
            </a:r>
            <a:endParaRPr lang="en-US" sz="1600" dirty="0"/>
          </a:p>
        </p:txBody>
      </p:sp>
      <p:sp>
        <p:nvSpPr>
          <p:cNvPr id="18" name="Text 12"/>
          <p:cNvSpPr/>
          <p:nvPr/>
        </p:nvSpPr>
        <p:spPr>
          <a:xfrm>
            <a:off x="578048" y="4120277"/>
            <a:ext cx="4381262" cy="5283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Understand information clusters and influential entities within the news landscape.</a:t>
            </a:r>
            <a:endParaRPr lang="en-US" sz="1300" dirty="0"/>
          </a:p>
        </p:txBody>
      </p:sp>
      <p:pic>
        <p:nvPicPr>
          <p:cNvPr id="19" name="Image 4" descr="preencoded.png"/>
          <p:cNvPicPr>
            <a:picLocks noChangeAspect="1"/>
          </p:cNvPicPr>
          <p:nvPr/>
        </p:nvPicPr>
        <p:blipFill>
          <a:blip r:embed="rId7"/>
          <a:stretch>
            <a:fillRect/>
          </a:stretch>
        </p:blipFill>
        <p:spPr>
          <a:xfrm>
            <a:off x="5124450" y="3119199"/>
            <a:ext cx="165140" cy="206454"/>
          </a:xfrm>
          <a:prstGeom prst="rect">
            <a:avLst/>
          </a:prstGeom>
        </p:spPr>
      </p:pic>
      <p:sp>
        <p:nvSpPr>
          <p:cNvPr id="20" name="Shape 13"/>
          <p:cNvSpPr/>
          <p:nvPr/>
        </p:nvSpPr>
        <p:spPr>
          <a:xfrm>
            <a:off x="5124450" y="3376970"/>
            <a:ext cx="4381381" cy="22860"/>
          </a:xfrm>
          <a:prstGeom prst="rect">
            <a:avLst/>
          </a:prstGeom>
          <a:solidFill>
            <a:srgbClr val="1B1B27"/>
          </a:solidFill>
          <a:ln/>
        </p:spPr>
      </p:sp>
      <p:sp>
        <p:nvSpPr>
          <p:cNvPr id="21" name="Text 14"/>
          <p:cNvSpPr/>
          <p:nvPr/>
        </p:nvSpPr>
        <p:spPr>
          <a:xfrm>
            <a:off x="5124450" y="3505200"/>
            <a:ext cx="2623661" cy="258008"/>
          </a:xfrm>
          <a:prstGeom prst="rect">
            <a:avLst/>
          </a:prstGeom>
          <a:noFill/>
          <a:ln/>
        </p:spPr>
        <p:txBody>
          <a:bodyPr wrap="non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Enable Question Answering</a:t>
            </a:r>
            <a:endParaRPr lang="en-US" sz="1600" dirty="0"/>
          </a:p>
        </p:txBody>
      </p:sp>
      <p:sp>
        <p:nvSpPr>
          <p:cNvPr id="22" name="Text 15"/>
          <p:cNvSpPr/>
          <p:nvPr/>
        </p:nvSpPr>
        <p:spPr>
          <a:xfrm>
            <a:off x="5124450" y="3862268"/>
            <a:ext cx="4381381" cy="7925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Facilitate quick information retrieval through intuitive question-answering capabilities over the extracted knowledge.</a:t>
            </a:r>
            <a:endParaRPr lang="en-US" sz="1300" dirty="0"/>
          </a:p>
        </p:txBody>
      </p:sp>
      <p:pic>
        <p:nvPicPr>
          <p:cNvPr id="23" name="Image 5" descr="preencoded.png"/>
          <p:cNvPicPr>
            <a:picLocks noChangeAspect="1"/>
          </p:cNvPicPr>
          <p:nvPr/>
        </p:nvPicPr>
        <p:blipFill>
          <a:blip r:embed="rId8"/>
          <a:stretch>
            <a:fillRect/>
          </a:stretch>
        </p:blipFill>
        <p:spPr>
          <a:xfrm>
            <a:off x="9670971" y="3119199"/>
            <a:ext cx="165140" cy="206454"/>
          </a:xfrm>
          <a:prstGeom prst="rect">
            <a:avLst/>
          </a:prstGeom>
        </p:spPr>
      </p:pic>
      <p:sp>
        <p:nvSpPr>
          <p:cNvPr id="24" name="Shape 16"/>
          <p:cNvSpPr/>
          <p:nvPr/>
        </p:nvSpPr>
        <p:spPr>
          <a:xfrm>
            <a:off x="9670971" y="3376970"/>
            <a:ext cx="4381381" cy="22860"/>
          </a:xfrm>
          <a:prstGeom prst="rect">
            <a:avLst/>
          </a:prstGeom>
          <a:solidFill>
            <a:srgbClr val="1B1B27"/>
          </a:solidFill>
          <a:ln/>
        </p:spPr>
      </p:sp>
      <p:sp>
        <p:nvSpPr>
          <p:cNvPr id="25" name="Text 17"/>
          <p:cNvSpPr/>
          <p:nvPr/>
        </p:nvSpPr>
        <p:spPr>
          <a:xfrm>
            <a:off x="9670971" y="3505200"/>
            <a:ext cx="3194923" cy="258008"/>
          </a:xfrm>
          <a:prstGeom prst="rect">
            <a:avLst/>
          </a:prstGeom>
          <a:noFill/>
          <a:ln/>
        </p:spPr>
        <p:txBody>
          <a:bodyPr wrap="non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Implement Cross-Domain Linking</a:t>
            </a:r>
            <a:endParaRPr lang="en-US" sz="1600" dirty="0"/>
          </a:p>
        </p:txBody>
      </p:sp>
      <p:sp>
        <p:nvSpPr>
          <p:cNvPr id="26" name="Text 18"/>
          <p:cNvSpPr/>
          <p:nvPr/>
        </p:nvSpPr>
        <p:spPr>
          <a:xfrm>
            <a:off x="9670971" y="3862268"/>
            <a:ext cx="4381381" cy="5283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Identify and connect related entities across diverse topics and datasets.</a:t>
            </a:r>
            <a:endParaRPr lang="en-US" sz="1300" dirty="0"/>
          </a:p>
        </p:txBody>
      </p:sp>
      <p:pic>
        <p:nvPicPr>
          <p:cNvPr id="27" name="Image 6" descr="preencoded.png"/>
          <p:cNvPicPr>
            <a:picLocks noChangeAspect="1"/>
          </p:cNvPicPr>
          <p:nvPr/>
        </p:nvPicPr>
        <p:blipFill>
          <a:blip r:embed="rId9"/>
          <a:stretch>
            <a:fillRect/>
          </a:stretch>
        </p:blipFill>
        <p:spPr>
          <a:xfrm>
            <a:off x="578048" y="4943832"/>
            <a:ext cx="165140" cy="206454"/>
          </a:xfrm>
          <a:prstGeom prst="rect">
            <a:avLst/>
          </a:prstGeom>
        </p:spPr>
      </p:pic>
      <p:sp>
        <p:nvSpPr>
          <p:cNvPr id="28" name="Shape 19"/>
          <p:cNvSpPr/>
          <p:nvPr/>
        </p:nvSpPr>
        <p:spPr>
          <a:xfrm>
            <a:off x="578048" y="5201603"/>
            <a:ext cx="13474303" cy="22860"/>
          </a:xfrm>
          <a:prstGeom prst="rect">
            <a:avLst/>
          </a:prstGeom>
          <a:solidFill>
            <a:srgbClr val="1B1B27"/>
          </a:solidFill>
          <a:ln/>
        </p:spPr>
      </p:sp>
      <p:sp>
        <p:nvSpPr>
          <p:cNvPr id="29" name="Text 20"/>
          <p:cNvSpPr/>
          <p:nvPr/>
        </p:nvSpPr>
        <p:spPr>
          <a:xfrm>
            <a:off x="578048" y="5329833"/>
            <a:ext cx="3897273" cy="258008"/>
          </a:xfrm>
          <a:prstGeom prst="rect">
            <a:avLst/>
          </a:prstGeom>
          <a:noFill/>
          <a:ln/>
        </p:spPr>
        <p:txBody>
          <a:bodyPr wrap="none" lIns="0" tIns="0" rIns="0" bIns="0" rtlCol="0" anchor="t"/>
          <a:lstStyle/>
          <a:p>
            <a:pPr marL="0" indent="0" algn="l">
              <a:lnSpc>
                <a:spcPts val="2000"/>
              </a:lnSpc>
              <a:buNone/>
            </a:pPr>
            <a:r>
              <a:rPr lang="en-US" sz="1600" dirty="0">
                <a:solidFill>
                  <a:srgbClr val="3C3939"/>
                </a:solidFill>
                <a:latin typeface="Raleway" pitchFamily="34" charset="0"/>
                <a:ea typeface="Raleway" pitchFamily="34" charset="-122"/>
                <a:cs typeface="Raleway" pitchFamily="34" charset="-120"/>
              </a:rPr>
              <a:t>Deploy as an Interactive Web Application</a:t>
            </a:r>
            <a:endParaRPr lang="en-US" sz="1600" dirty="0"/>
          </a:p>
        </p:txBody>
      </p:sp>
      <p:sp>
        <p:nvSpPr>
          <p:cNvPr id="30" name="Text 21"/>
          <p:cNvSpPr/>
          <p:nvPr/>
        </p:nvSpPr>
        <p:spPr>
          <a:xfrm>
            <a:off x="578048" y="5686901"/>
            <a:ext cx="13474303" cy="264200"/>
          </a:xfrm>
          <a:prstGeom prst="rect">
            <a:avLst/>
          </a:prstGeom>
          <a:noFill/>
          <a:ln/>
        </p:spPr>
        <p:txBody>
          <a:bodyPr wrap="non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Launch the system as a user-friendly Streamlit application for broad accessibility.</a:t>
            </a:r>
            <a:endParaRPr lang="en-US" sz="1300" dirty="0"/>
          </a:p>
        </p:txBody>
      </p:sp>
      <p:sp>
        <p:nvSpPr>
          <p:cNvPr id="31" name="Text 22"/>
          <p:cNvSpPr/>
          <p:nvPr/>
        </p:nvSpPr>
        <p:spPr>
          <a:xfrm>
            <a:off x="578048" y="6322695"/>
            <a:ext cx="3303746" cy="412909"/>
          </a:xfrm>
          <a:prstGeom prst="rect">
            <a:avLst/>
          </a:prstGeom>
          <a:noFill/>
          <a:ln/>
        </p:spPr>
        <p:txBody>
          <a:bodyPr wrap="none" lIns="0" tIns="0" rIns="0" bIns="0" rtlCol="0" anchor="t"/>
          <a:lstStyle/>
          <a:p>
            <a:pPr marL="0" indent="0" algn="l">
              <a:lnSpc>
                <a:spcPts val="3250"/>
              </a:lnSpc>
              <a:buNone/>
            </a:pPr>
            <a:r>
              <a:rPr lang="en-US" sz="2600" dirty="0">
                <a:solidFill>
                  <a:srgbClr val="1B1B27"/>
                </a:solidFill>
                <a:latin typeface="Raleway" pitchFamily="34" charset="0"/>
                <a:ea typeface="Raleway" pitchFamily="34" charset="-122"/>
                <a:cs typeface="Raleway" pitchFamily="34" charset="-120"/>
              </a:rPr>
              <a:t>Scope</a:t>
            </a:r>
            <a:endParaRPr lang="en-US" sz="2600" dirty="0"/>
          </a:p>
        </p:txBody>
      </p:sp>
      <p:sp>
        <p:nvSpPr>
          <p:cNvPr id="32" name="Text 23"/>
          <p:cNvSpPr/>
          <p:nvPr/>
        </p:nvSpPr>
        <p:spPr>
          <a:xfrm>
            <a:off x="578048" y="6983373"/>
            <a:ext cx="13474303" cy="792599"/>
          </a:xfrm>
          <a:prstGeom prst="rect">
            <a:avLst/>
          </a:prstGeom>
          <a:noFill/>
          <a:ln/>
        </p:spPr>
        <p:txBody>
          <a:bodyPr wrap="square" lIns="0" tIns="0" rIns="0" bIns="0" rtlCol="0" anchor="t"/>
          <a:lstStyle/>
          <a:p>
            <a:pPr marL="0" indent="0" algn="l">
              <a:lnSpc>
                <a:spcPts val="2050"/>
              </a:lnSpc>
              <a:buNone/>
            </a:pPr>
            <a:r>
              <a:rPr lang="en-US" sz="1300" dirty="0">
                <a:solidFill>
                  <a:srgbClr val="3C3939"/>
                </a:solidFill>
                <a:latin typeface="Roboto" pitchFamily="34" charset="0"/>
                <a:ea typeface="Roboto" pitchFamily="34" charset="-122"/>
                <a:cs typeface="Roboto" pitchFamily="34" charset="-120"/>
              </a:rPr>
              <a:t>The system focuses on processing news articles and providing both analytical and interactive components for end-users. It is designed for scalability and can be adapted for other text-based datasets, such as research papers, blogs, or social media posts. The inclusion of a fake news classifier ensures the system can serve as both an information exploration tool and a credibility assessment platform.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9478" y="463391"/>
            <a:ext cx="5810964" cy="726400"/>
          </a:xfrm>
          <a:prstGeom prst="rect">
            <a:avLst/>
          </a:prstGeom>
          <a:noFill/>
          <a:ln/>
        </p:spPr>
        <p:txBody>
          <a:bodyPr wrap="none" lIns="0" tIns="0" rIns="0" bIns="0" rtlCol="0" anchor="t"/>
          <a:lstStyle/>
          <a:p>
            <a:pPr marL="0" indent="0" algn="l">
              <a:lnSpc>
                <a:spcPts val="5700"/>
              </a:lnSpc>
              <a:buNone/>
            </a:pPr>
            <a:r>
              <a:rPr lang="en-US" sz="4550" b="1" dirty="0">
                <a:solidFill>
                  <a:srgbClr val="1B1B27"/>
                </a:solidFill>
                <a:latin typeface="Raleway" pitchFamily="34" charset="0"/>
                <a:ea typeface="Raleway" pitchFamily="34" charset="-122"/>
                <a:cs typeface="Raleway" pitchFamily="34" charset="-120"/>
              </a:rPr>
              <a:t>Project Workflow</a:t>
            </a:r>
            <a:endParaRPr lang="en-US" sz="4550" dirty="0"/>
          </a:p>
        </p:txBody>
      </p:sp>
      <p:sp>
        <p:nvSpPr>
          <p:cNvPr id="3" name="Text 1"/>
          <p:cNvSpPr/>
          <p:nvPr/>
        </p:nvSpPr>
        <p:spPr>
          <a:xfrm>
            <a:off x="589478" y="1526619"/>
            <a:ext cx="13451443" cy="269558"/>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Roboto" pitchFamily="34" charset="0"/>
                <a:ea typeface="Roboto" pitchFamily="34" charset="-122"/>
                <a:cs typeface="Roboto" pitchFamily="34" charset="-120"/>
              </a:rPr>
              <a:t>We outline a complete end-to-end workflow, transforming raw text data into a queryable knowledge graph and deploying a practical application.</a:t>
            </a:r>
            <a:endParaRPr lang="en-US" sz="1300" dirty="0"/>
          </a:p>
        </p:txBody>
      </p:sp>
      <p:pic>
        <p:nvPicPr>
          <p:cNvPr id="4" name="Image 0" descr="preencoded.png"/>
          <p:cNvPicPr>
            <a:picLocks noChangeAspect="1"/>
          </p:cNvPicPr>
          <p:nvPr/>
        </p:nvPicPr>
        <p:blipFill>
          <a:blip r:embed="rId3"/>
          <a:stretch>
            <a:fillRect/>
          </a:stretch>
        </p:blipFill>
        <p:spPr>
          <a:xfrm>
            <a:off x="589478" y="1985605"/>
            <a:ext cx="9631918" cy="57804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5909" y="476131"/>
            <a:ext cx="7904083" cy="541139"/>
          </a:xfrm>
          <a:prstGeom prst="rect">
            <a:avLst/>
          </a:prstGeom>
          <a:noFill/>
          <a:ln/>
        </p:spPr>
        <p:txBody>
          <a:bodyPr wrap="none" lIns="0" tIns="0" rIns="0" bIns="0" rtlCol="0" anchor="t"/>
          <a:lstStyle/>
          <a:p>
            <a:pPr marL="0" indent="0" algn="l">
              <a:lnSpc>
                <a:spcPts val="4250"/>
              </a:lnSpc>
              <a:buNone/>
            </a:pPr>
            <a:r>
              <a:rPr lang="en-US" sz="3400" dirty="0">
                <a:solidFill>
                  <a:srgbClr val="1B1B27"/>
                </a:solidFill>
                <a:latin typeface="Raleway" pitchFamily="34" charset="0"/>
                <a:ea typeface="Raleway" pitchFamily="34" charset="-122"/>
                <a:cs typeface="Raleway" pitchFamily="34" charset="-120"/>
              </a:rPr>
              <a:t>Step 1: Data Acquisition and Preparation</a:t>
            </a:r>
            <a:endParaRPr lang="en-US" sz="3400" dirty="0"/>
          </a:p>
        </p:txBody>
      </p:sp>
      <p:sp>
        <p:nvSpPr>
          <p:cNvPr id="3" name="Text 1"/>
          <p:cNvSpPr/>
          <p:nvPr/>
        </p:nvSpPr>
        <p:spPr>
          <a:xfrm>
            <a:off x="605909" y="1450062"/>
            <a:ext cx="3825597" cy="324564"/>
          </a:xfrm>
          <a:prstGeom prst="rect">
            <a:avLst/>
          </a:prstGeom>
          <a:noFill/>
          <a:ln/>
        </p:spPr>
        <p:txBody>
          <a:bodyPr wrap="none" lIns="0" tIns="0" rIns="0" bIns="0" rtlCol="0" anchor="t"/>
          <a:lstStyle/>
          <a:p>
            <a:pPr marL="0" indent="0" algn="l">
              <a:lnSpc>
                <a:spcPts val="2550"/>
              </a:lnSpc>
              <a:buNone/>
            </a:pPr>
            <a:r>
              <a:rPr lang="en-US" sz="2000" dirty="0">
                <a:solidFill>
                  <a:srgbClr val="1B1B27"/>
                </a:solidFill>
                <a:latin typeface="Raleway" pitchFamily="34" charset="0"/>
                <a:ea typeface="Raleway" pitchFamily="34" charset="-122"/>
                <a:cs typeface="Raleway" pitchFamily="34" charset="-120"/>
              </a:rPr>
              <a:t>Gathering Relevant Textual Data</a:t>
            </a:r>
            <a:endParaRPr lang="en-US" sz="2000" dirty="0"/>
          </a:p>
        </p:txBody>
      </p:sp>
      <p:sp>
        <p:nvSpPr>
          <p:cNvPr id="4" name="Text 2"/>
          <p:cNvSpPr/>
          <p:nvPr/>
        </p:nvSpPr>
        <p:spPr>
          <a:xfrm>
            <a:off x="605909" y="1947743"/>
            <a:ext cx="7882176" cy="830818"/>
          </a:xfrm>
          <a:prstGeom prst="rect">
            <a:avLst/>
          </a:prstGeom>
          <a:noFill/>
          <a:ln/>
        </p:spPr>
        <p:txBody>
          <a:bodyPr wrap="square" lIns="0" tIns="0" rIns="0" bIns="0" rtlCol="0" anchor="t"/>
          <a:lstStyle/>
          <a:p>
            <a:pPr marL="0" indent="0" algn="l">
              <a:lnSpc>
                <a:spcPts val="2150"/>
              </a:lnSpc>
              <a:buNone/>
            </a:pPr>
            <a:r>
              <a:rPr lang="en-US" sz="1350" dirty="0">
                <a:solidFill>
                  <a:srgbClr val="3C3939"/>
                </a:solidFill>
                <a:latin typeface="Roboto" pitchFamily="34" charset="0"/>
                <a:ea typeface="Roboto" pitchFamily="34" charset="-122"/>
                <a:cs typeface="Roboto" pitchFamily="34" charset="-120"/>
              </a:rPr>
              <a:t>The foundational step involves gathering relevant textual data from diverse sources such as articles, documents, and websites. The quality and diversity of this initial dataset directly impact the richness of the resulting knowledge graph.</a:t>
            </a:r>
            <a:endParaRPr lang="en-US" sz="1350" dirty="0"/>
          </a:p>
        </p:txBody>
      </p:sp>
      <p:sp>
        <p:nvSpPr>
          <p:cNvPr id="5" name="Shape 3"/>
          <p:cNvSpPr/>
          <p:nvPr/>
        </p:nvSpPr>
        <p:spPr>
          <a:xfrm>
            <a:off x="605909" y="2973348"/>
            <a:ext cx="7882176" cy="1112520"/>
          </a:xfrm>
          <a:prstGeom prst="roundRect">
            <a:avLst>
              <a:gd name="adj" fmla="val 6537"/>
            </a:avLst>
          </a:prstGeom>
          <a:solidFill>
            <a:srgbClr val="FFFFFF">
              <a:alpha val="95000"/>
            </a:srgbClr>
          </a:solidFill>
          <a:ln w="22860">
            <a:solidFill>
              <a:srgbClr val="C7C7D0"/>
            </a:solidFill>
            <a:prstDash val="solid"/>
          </a:ln>
        </p:spPr>
      </p:sp>
      <p:sp>
        <p:nvSpPr>
          <p:cNvPr id="6" name="Text 4"/>
          <p:cNvSpPr/>
          <p:nvPr/>
        </p:nvSpPr>
        <p:spPr>
          <a:xfrm>
            <a:off x="801886" y="3169325"/>
            <a:ext cx="2164318" cy="270510"/>
          </a:xfrm>
          <a:prstGeom prst="rect">
            <a:avLst/>
          </a:prstGeom>
          <a:noFill/>
          <a:ln/>
        </p:spPr>
        <p:txBody>
          <a:bodyPr wrap="none" lIns="0" tIns="0" rIns="0" bIns="0" rtlCol="0" anchor="t"/>
          <a:lstStyle/>
          <a:p>
            <a:pPr marL="0" indent="0" algn="l">
              <a:lnSpc>
                <a:spcPts val="2100"/>
              </a:lnSpc>
              <a:buNone/>
            </a:pPr>
            <a:r>
              <a:rPr lang="en-US" sz="1700" dirty="0">
                <a:solidFill>
                  <a:srgbClr val="3C3939"/>
                </a:solidFill>
                <a:latin typeface="Raleway" pitchFamily="34" charset="0"/>
                <a:ea typeface="Raleway" pitchFamily="34" charset="-122"/>
                <a:cs typeface="Raleway" pitchFamily="34" charset="-120"/>
              </a:rPr>
              <a:t>Source Diversity</a:t>
            </a:r>
            <a:endParaRPr lang="en-US" sz="1700" dirty="0"/>
          </a:p>
        </p:txBody>
      </p:sp>
      <p:sp>
        <p:nvSpPr>
          <p:cNvPr id="7" name="Text 5"/>
          <p:cNvSpPr/>
          <p:nvPr/>
        </p:nvSpPr>
        <p:spPr>
          <a:xfrm>
            <a:off x="801886" y="3612952"/>
            <a:ext cx="7490222" cy="276939"/>
          </a:xfrm>
          <a:prstGeom prst="rect">
            <a:avLst/>
          </a:prstGeom>
          <a:noFill/>
          <a:ln/>
        </p:spPr>
        <p:txBody>
          <a:bodyPr wrap="none" lIns="0" tIns="0" rIns="0" bIns="0" rtlCol="0" anchor="t"/>
          <a:lstStyle/>
          <a:p>
            <a:pPr marL="0" indent="0" algn="l">
              <a:lnSpc>
                <a:spcPts val="2150"/>
              </a:lnSpc>
              <a:buNone/>
            </a:pPr>
            <a:r>
              <a:rPr lang="en-US" sz="1350" dirty="0">
                <a:solidFill>
                  <a:srgbClr val="3C3939"/>
                </a:solidFill>
                <a:latin typeface="Roboto" pitchFamily="34" charset="0"/>
                <a:ea typeface="Roboto" pitchFamily="34" charset="-122"/>
                <a:cs typeface="Roboto" pitchFamily="34" charset="-120"/>
              </a:rPr>
              <a:t>Data can include books, articles, domain-specific documents, or proprietary text.</a:t>
            </a:r>
            <a:endParaRPr lang="en-US" sz="1350" dirty="0"/>
          </a:p>
        </p:txBody>
      </p:sp>
      <p:sp>
        <p:nvSpPr>
          <p:cNvPr id="8" name="Shape 6"/>
          <p:cNvSpPr/>
          <p:nvPr/>
        </p:nvSpPr>
        <p:spPr>
          <a:xfrm>
            <a:off x="605909" y="4258985"/>
            <a:ext cx="7882176" cy="1112520"/>
          </a:xfrm>
          <a:prstGeom prst="roundRect">
            <a:avLst>
              <a:gd name="adj" fmla="val 6537"/>
            </a:avLst>
          </a:prstGeom>
          <a:solidFill>
            <a:srgbClr val="FFFFFF">
              <a:alpha val="95000"/>
            </a:srgbClr>
          </a:solidFill>
          <a:ln w="22860">
            <a:solidFill>
              <a:srgbClr val="C7C7D0"/>
            </a:solidFill>
            <a:prstDash val="solid"/>
          </a:ln>
        </p:spPr>
      </p:sp>
      <p:sp>
        <p:nvSpPr>
          <p:cNvPr id="9" name="Text 7"/>
          <p:cNvSpPr/>
          <p:nvPr/>
        </p:nvSpPr>
        <p:spPr>
          <a:xfrm>
            <a:off x="801886" y="4454962"/>
            <a:ext cx="2812256" cy="270510"/>
          </a:xfrm>
          <a:prstGeom prst="rect">
            <a:avLst/>
          </a:prstGeom>
          <a:noFill/>
          <a:ln/>
        </p:spPr>
        <p:txBody>
          <a:bodyPr wrap="none" lIns="0" tIns="0" rIns="0" bIns="0" rtlCol="0" anchor="t"/>
          <a:lstStyle/>
          <a:p>
            <a:pPr marL="0" indent="0" algn="l">
              <a:lnSpc>
                <a:spcPts val="2100"/>
              </a:lnSpc>
              <a:buNone/>
            </a:pPr>
            <a:r>
              <a:rPr lang="en-US" sz="1700" dirty="0">
                <a:solidFill>
                  <a:srgbClr val="3C3939"/>
                </a:solidFill>
                <a:latin typeface="Raleway" pitchFamily="34" charset="0"/>
                <a:ea typeface="Raleway" pitchFamily="34" charset="-122"/>
                <a:cs typeface="Raleway" pitchFamily="34" charset="-120"/>
              </a:rPr>
              <a:t>Focus: Fake News Detection</a:t>
            </a:r>
            <a:endParaRPr lang="en-US" sz="1700" dirty="0"/>
          </a:p>
        </p:txBody>
      </p:sp>
      <p:sp>
        <p:nvSpPr>
          <p:cNvPr id="10" name="Text 8"/>
          <p:cNvSpPr/>
          <p:nvPr/>
        </p:nvSpPr>
        <p:spPr>
          <a:xfrm>
            <a:off x="801886" y="4898588"/>
            <a:ext cx="7490222" cy="276939"/>
          </a:xfrm>
          <a:prstGeom prst="rect">
            <a:avLst/>
          </a:prstGeom>
          <a:noFill/>
          <a:ln/>
        </p:spPr>
        <p:txBody>
          <a:bodyPr wrap="none" lIns="0" tIns="0" rIns="0" bIns="0" rtlCol="0" anchor="t"/>
          <a:lstStyle/>
          <a:p>
            <a:pPr marL="0" indent="0" algn="l">
              <a:lnSpc>
                <a:spcPts val="2150"/>
              </a:lnSpc>
              <a:buNone/>
            </a:pPr>
            <a:r>
              <a:rPr lang="en-US" sz="1350" dirty="0">
                <a:solidFill>
                  <a:srgbClr val="3C3939"/>
                </a:solidFill>
                <a:latin typeface="Roboto" pitchFamily="34" charset="0"/>
                <a:ea typeface="Roboto" pitchFamily="34" charset="-122"/>
                <a:cs typeface="Roboto" pitchFamily="34" charset="-120"/>
              </a:rPr>
              <a:t>Our project utilizes the ISOT Fake News Dataset from Kaggle, containing over 25,000 articles.</a:t>
            </a:r>
            <a:endParaRPr lang="en-US" sz="1350" dirty="0"/>
          </a:p>
        </p:txBody>
      </p:sp>
      <p:pic>
        <p:nvPicPr>
          <p:cNvPr id="11" name="Image 0" descr="preencoded.png"/>
          <p:cNvPicPr>
            <a:picLocks noChangeAspect="1"/>
          </p:cNvPicPr>
          <p:nvPr/>
        </p:nvPicPr>
        <p:blipFill>
          <a:blip r:embed="rId3"/>
          <a:stretch>
            <a:fillRect/>
          </a:stretch>
        </p:blipFill>
        <p:spPr>
          <a:xfrm>
            <a:off x="8918138" y="1471732"/>
            <a:ext cx="5113973" cy="5113973"/>
          </a:xfrm>
          <a:prstGeom prst="rect">
            <a:avLst/>
          </a:prstGeom>
        </p:spPr>
      </p:pic>
      <p:sp>
        <p:nvSpPr>
          <p:cNvPr id="12" name="Text 9"/>
          <p:cNvSpPr/>
          <p:nvPr/>
        </p:nvSpPr>
        <p:spPr>
          <a:xfrm>
            <a:off x="873204" y="6079212"/>
            <a:ext cx="13158907" cy="553879"/>
          </a:xfrm>
          <a:prstGeom prst="rect">
            <a:avLst/>
          </a:prstGeom>
          <a:noFill/>
          <a:ln/>
        </p:spPr>
        <p:txBody>
          <a:bodyPr wrap="square" lIns="0" tIns="0" rIns="0" bIns="0" rtlCol="0" anchor="t"/>
          <a:lstStyle/>
          <a:p>
            <a:pPr marL="0" indent="0" algn="l">
              <a:lnSpc>
                <a:spcPts val="2150"/>
              </a:lnSpc>
              <a:buNone/>
            </a:pPr>
            <a:r>
              <a:rPr lang="en-US" sz="1350" dirty="0">
                <a:solidFill>
                  <a:srgbClr val="3C3939"/>
                </a:solidFill>
                <a:latin typeface="Roboto" pitchFamily="34" charset="0"/>
                <a:ea typeface="Roboto" pitchFamily="34" charset="-122"/>
                <a:cs typeface="Roboto" pitchFamily="34" charset="-120"/>
              </a:rPr>
              <a:t>The dataset includes two types of articles: "True.csv" (12,600+ articles from reputable sources like </a:t>
            </a:r>
            <a:r>
              <a:rPr lang="en-US" sz="1350" u="sng" dirty="0">
                <a:solidFill>
                  <a:srgbClr val="1B1B27"/>
                </a:solidFill>
                <a:latin typeface="Roboto" pitchFamily="34" charset="0"/>
                <a:ea typeface="Roboto" pitchFamily="34" charset="-122"/>
                <a:cs typeface="Roboto" pitchFamily="34" charset="-120"/>
                <a:hlinkClick r:id="rId4">
                  <a:extLst>
                    <a:ext uri="{A12FA001-AC4F-418D-AE19-62706E023703}">
                      <ahyp:hlinkClr xmlns:ahyp="http://schemas.microsoft.com/office/drawing/2018/hyperlinkcolor" val="tx"/>
                    </a:ext>
                  </a:extLst>
                </a:hlinkClick>
              </a:rPr>
              <a:t>reuter.com</a:t>
            </a:r>
            <a:r>
              <a:rPr lang="en-US" sz="1350" dirty="0">
                <a:solidFill>
                  <a:srgbClr val="3C3939"/>
                </a:solidFill>
                <a:latin typeface="Roboto" pitchFamily="34" charset="0"/>
                <a:ea typeface="Roboto" pitchFamily="34" charset="-122"/>
                <a:cs typeface="Roboto" pitchFamily="34" charset="-120"/>
              </a:rPr>
              <a:t>) and "Fake.csv" (12,600+ articles from unreliable sources flagged by Politifact and Wikipedia).</a:t>
            </a:r>
            <a:endParaRPr lang="en-US" sz="1350" dirty="0"/>
          </a:p>
        </p:txBody>
      </p:sp>
      <p:sp>
        <p:nvSpPr>
          <p:cNvPr id="13" name="Text 10"/>
          <p:cNvSpPr/>
          <p:nvPr/>
        </p:nvSpPr>
        <p:spPr>
          <a:xfrm>
            <a:off x="873204" y="6836568"/>
            <a:ext cx="13158907" cy="276939"/>
          </a:xfrm>
          <a:prstGeom prst="rect">
            <a:avLst/>
          </a:prstGeom>
          <a:noFill/>
          <a:ln/>
        </p:spPr>
        <p:txBody>
          <a:bodyPr wrap="none" lIns="0" tIns="0" rIns="0" bIns="0" rtlCol="0" anchor="t"/>
          <a:lstStyle/>
          <a:p>
            <a:pPr algn="l">
              <a:lnSpc>
                <a:spcPts val="2150"/>
              </a:lnSpc>
              <a:buSzPct val="100000"/>
            </a:pPr>
            <a:r>
              <a:rPr lang="en-US" sz="1350" dirty="0">
                <a:solidFill>
                  <a:srgbClr val="3C3939"/>
                </a:solidFill>
                <a:latin typeface="Roboto" pitchFamily="34" charset="0"/>
                <a:ea typeface="Roboto" pitchFamily="34" charset="-122"/>
                <a:cs typeface="Roboto" pitchFamily="34" charset="-120"/>
              </a:rPr>
              <a:t>Each article provides: Title, Text, Type (Real/Fake), and Date.</a:t>
            </a:r>
            <a:endParaRPr lang="en-US" sz="1350" dirty="0"/>
          </a:p>
        </p:txBody>
      </p:sp>
      <p:sp>
        <p:nvSpPr>
          <p:cNvPr id="14" name="Shape 11"/>
          <p:cNvSpPr/>
          <p:nvPr/>
        </p:nvSpPr>
        <p:spPr>
          <a:xfrm>
            <a:off x="594479" y="6004679"/>
            <a:ext cx="22860" cy="1280874"/>
          </a:xfrm>
          <a:prstGeom prst="rect">
            <a:avLst/>
          </a:prstGeom>
          <a:solidFill>
            <a:srgbClr val="1B1B27"/>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7944" y="721043"/>
            <a:ext cx="6150769" cy="623054"/>
          </a:xfrm>
          <a:prstGeom prst="rect">
            <a:avLst/>
          </a:prstGeom>
          <a:noFill/>
          <a:ln/>
        </p:spPr>
        <p:txBody>
          <a:bodyPr wrap="none" lIns="0" tIns="0" rIns="0" bIns="0" rtlCol="0" anchor="t"/>
          <a:lstStyle/>
          <a:p>
            <a:pPr marL="0" indent="0" algn="l">
              <a:lnSpc>
                <a:spcPts val="4900"/>
              </a:lnSpc>
              <a:buNone/>
            </a:pPr>
            <a:r>
              <a:rPr lang="en-US" sz="3900" dirty="0">
                <a:solidFill>
                  <a:srgbClr val="1B1B27"/>
                </a:solidFill>
                <a:latin typeface="Raleway" pitchFamily="34" charset="0"/>
                <a:ea typeface="Raleway" pitchFamily="34" charset="-122"/>
                <a:cs typeface="Raleway" pitchFamily="34" charset="-120"/>
              </a:rPr>
              <a:t>Step 2: Data Preprocessing</a:t>
            </a:r>
            <a:endParaRPr lang="en-US" sz="3900" dirty="0"/>
          </a:p>
        </p:txBody>
      </p:sp>
      <p:pic>
        <p:nvPicPr>
          <p:cNvPr id="3" name="Image 0" descr="preencoded.png"/>
          <p:cNvPicPr>
            <a:picLocks noChangeAspect="1"/>
          </p:cNvPicPr>
          <p:nvPr/>
        </p:nvPicPr>
        <p:blipFill>
          <a:blip r:embed="rId3"/>
          <a:stretch>
            <a:fillRect/>
          </a:stretch>
        </p:blipFill>
        <p:spPr>
          <a:xfrm>
            <a:off x="697944" y="1742837"/>
            <a:ext cx="199311" cy="249198"/>
          </a:xfrm>
          <a:prstGeom prst="rect">
            <a:avLst/>
          </a:prstGeom>
        </p:spPr>
      </p:pic>
      <p:sp>
        <p:nvSpPr>
          <p:cNvPr id="4" name="Shape 1"/>
          <p:cNvSpPr/>
          <p:nvPr/>
        </p:nvSpPr>
        <p:spPr>
          <a:xfrm>
            <a:off x="697944" y="2058710"/>
            <a:ext cx="4278630" cy="22860"/>
          </a:xfrm>
          <a:prstGeom prst="rect">
            <a:avLst/>
          </a:prstGeom>
          <a:solidFill>
            <a:srgbClr val="1B1B27"/>
          </a:solidFill>
          <a:ln/>
        </p:spPr>
      </p:sp>
      <p:sp>
        <p:nvSpPr>
          <p:cNvPr id="5" name="Text 2"/>
          <p:cNvSpPr/>
          <p:nvPr/>
        </p:nvSpPr>
        <p:spPr>
          <a:xfrm>
            <a:off x="697944" y="2204085"/>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Missing Values</a:t>
            </a:r>
            <a:endParaRPr lang="en-US" sz="1950" dirty="0"/>
          </a:p>
        </p:txBody>
      </p:sp>
      <p:sp>
        <p:nvSpPr>
          <p:cNvPr id="6" name="Text 3"/>
          <p:cNvSpPr/>
          <p:nvPr/>
        </p:nvSpPr>
        <p:spPr>
          <a:xfrm>
            <a:off x="697944" y="2635210"/>
            <a:ext cx="4278630" cy="638175"/>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Rows containing missing text or labels were identified and removed from the dataset.</a:t>
            </a:r>
            <a:endParaRPr lang="en-US" sz="1550" dirty="0"/>
          </a:p>
        </p:txBody>
      </p:sp>
      <p:pic>
        <p:nvPicPr>
          <p:cNvPr id="7" name="Image 1" descr="preencoded.png"/>
          <p:cNvPicPr>
            <a:picLocks noChangeAspect="1"/>
          </p:cNvPicPr>
          <p:nvPr/>
        </p:nvPicPr>
        <p:blipFill>
          <a:blip r:embed="rId4"/>
          <a:stretch>
            <a:fillRect/>
          </a:stretch>
        </p:blipFill>
        <p:spPr>
          <a:xfrm>
            <a:off x="5175885" y="1742837"/>
            <a:ext cx="199311" cy="249198"/>
          </a:xfrm>
          <a:prstGeom prst="rect">
            <a:avLst/>
          </a:prstGeom>
        </p:spPr>
      </p:pic>
      <p:sp>
        <p:nvSpPr>
          <p:cNvPr id="8" name="Shape 4"/>
          <p:cNvSpPr/>
          <p:nvPr/>
        </p:nvSpPr>
        <p:spPr>
          <a:xfrm>
            <a:off x="5175885" y="2058710"/>
            <a:ext cx="4278630" cy="22860"/>
          </a:xfrm>
          <a:prstGeom prst="rect">
            <a:avLst/>
          </a:prstGeom>
          <a:solidFill>
            <a:srgbClr val="1B1B27"/>
          </a:solidFill>
          <a:ln/>
        </p:spPr>
      </p:sp>
      <p:sp>
        <p:nvSpPr>
          <p:cNvPr id="9" name="Text 5"/>
          <p:cNvSpPr/>
          <p:nvPr/>
        </p:nvSpPr>
        <p:spPr>
          <a:xfrm>
            <a:off x="5175885" y="2204085"/>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Duplicate Entries</a:t>
            </a:r>
            <a:endParaRPr lang="en-US" sz="1950" dirty="0"/>
          </a:p>
        </p:txBody>
      </p:sp>
      <p:sp>
        <p:nvSpPr>
          <p:cNvPr id="10" name="Text 6"/>
          <p:cNvSpPr/>
          <p:nvPr/>
        </p:nvSpPr>
        <p:spPr>
          <a:xfrm>
            <a:off x="5175885" y="2635210"/>
            <a:ext cx="4278630" cy="964882"/>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Identified and removed using Pandas' </a:t>
            </a:r>
            <a:r>
              <a:rPr lang="en-US" sz="1550" dirty="0">
                <a:solidFill>
                  <a:srgbClr val="3C3939"/>
                </a:solidFill>
                <a:highlight>
                  <a:srgbClr val="F2F2F2"/>
                </a:highlight>
                <a:latin typeface="Consolas" pitchFamily="34" charset="0"/>
                <a:ea typeface="Consolas" pitchFamily="34" charset="-122"/>
                <a:cs typeface="Consolas" pitchFamily="34" charset="-120"/>
              </a:rPr>
              <a:t>duplicated()</a:t>
            </a:r>
            <a:r>
              <a:rPr lang="en-US" sz="1550" dirty="0">
                <a:solidFill>
                  <a:srgbClr val="3C3939"/>
                </a:solidFill>
                <a:latin typeface="Roboto" pitchFamily="34" charset="0"/>
                <a:ea typeface="Roboto" pitchFamily="34" charset="-122"/>
                <a:cs typeface="Roboto" pitchFamily="34" charset="-120"/>
              </a:rPr>
              <a:t> function to ensure data uniqueness.</a:t>
            </a:r>
            <a:endParaRPr lang="en-US" sz="1550" dirty="0"/>
          </a:p>
        </p:txBody>
      </p:sp>
      <p:pic>
        <p:nvPicPr>
          <p:cNvPr id="11" name="Image 2" descr="preencoded.png"/>
          <p:cNvPicPr>
            <a:picLocks noChangeAspect="1"/>
          </p:cNvPicPr>
          <p:nvPr/>
        </p:nvPicPr>
        <p:blipFill>
          <a:blip r:embed="rId5"/>
          <a:stretch>
            <a:fillRect/>
          </a:stretch>
        </p:blipFill>
        <p:spPr>
          <a:xfrm>
            <a:off x="9653826" y="1742837"/>
            <a:ext cx="199311" cy="249198"/>
          </a:xfrm>
          <a:prstGeom prst="rect">
            <a:avLst/>
          </a:prstGeom>
        </p:spPr>
      </p:pic>
      <p:sp>
        <p:nvSpPr>
          <p:cNvPr id="12" name="Shape 7"/>
          <p:cNvSpPr/>
          <p:nvPr/>
        </p:nvSpPr>
        <p:spPr>
          <a:xfrm>
            <a:off x="9653826" y="2058710"/>
            <a:ext cx="4278630" cy="22860"/>
          </a:xfrm>
          <a:prstGeom prst="rect">
            <a:avLst/>
          </a:prstGeom>
          <a:solidFill>
            <a:srgbClr val="1B1B27"/>
          </a:solidFill>
          <a:ln/>
        </p:spPr>
      </p:sp>
      <p:sp>
        <p:nvSpPr>
          <p:cNvPr id="13" name="Text 8"/>
          <p:cNvSpPr/>
          <p:nvPr/>
        </p:nvSpPr>
        <p:spPr>
          <a:xfrm>
            <a:off x="9653826" y="2204085"/>
            <a:ext cx="345293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Text Cleaning &amp; Normalization</a:t>
            </a:r>
            <a:endParaRPr lang="en-US" sz="1950" dirty="0"/>
          </a:p>
        </p:txBody>
      </p:sp>
      <p:sp>
        <p:nvSpPr>
          <p:cNvPr id="14" name="Text 9"/>
          <p:cNvSpPr/>
          <p:nvPr/>
        </p:nvSpPr>
        <p:spPr>
          <a:xfrm>
            <a:off x="9653826" y="2635210"/>
            <a:ext cx="4278630" cy="957263"/>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This involved lowercasing all text, removing URLs and HTML tags, eliminating punctuation, and normalizing whitespace.</a:t>
            </a:r>
            <a:endParaRPr lang="en-US" sz="1550" dirty="0"/>
          </a:p>
        </p:txBody>
      </p:sp>
      <p:pic>
        <p:nvPicPr>
          <p:cNvPr id="15" name="Image 3" descr="preencoded.png"/>
          <p:cNvPicPr>
            <a:picLocks noChangeAspect="1"/>
          </p:cNvPicPr>
          <p:nvPr/>
        </p:nvPicPr>
        <p:blipFill>
          <a:blip r:embed="rId6"/>
          <a:stretch>
            <a:fillRect/>
          </a:stretch>
        </p:blipFill>
        <p:spPr>
          <a:xfrm>
            <a:off x="697944" y="3948946"/>
            <a:ext cx="199311" cy="249198"/>
          </a:xfrm>
          <a:prstGeom prst="rect">
            <a:avLst/>
          </a:prstGeom>
        </p:spPr>
      </p:pic>
      <p:sp>
        <p:nvSpPr>
          <p:cNvPr id="16" name="Shape 10"/>
          <p:cNvSpPr/>
          <p:nvPr/>
        </p:nvSpPr>
        <p:spPr>
          <a:xfrm>
            <a:off x="697944" y="4264819"/>
            <a:ext cx="4278630" cy="22860"/>
          </a:xfrm>
          <a:prstGeom prst="rect">
            <a:avLst/>
          </a:prstGeom>
          <a:solidFill>
            <a:srgbClr val="1B1B27"/>
          </a:solidFill>
          <a:ln/>
        </p:spPr>
      </p:sp>
      <p:sp>
        <p:nvSpPr>
          <p:cNvPr id="17" name="Text 11"/>
          <p:cNvSpPr/>
          <p:nvPr/>
        </p:nvSpPr>
        <p:spPr>
          <a:xfrm>
            <a:off x="697944" y="4410194"/>
            <a:ext cx="3913703"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Tokenization &amp; Stopword Removal</a:t>
            </a:r>
            <a:endParaRPr lang="en-US" sz="1950" dirty="0"/>
          </a:p>
        </p:txBody>
      </p:sp>
      <p:sp>
        <p:nvSpPr>
          <p:cNvPr id="18" name="Text 12"/>
          <p:cNvSpPr/>
          <p:nvPr/>
        </p:nvSpPr>
        <p:spPr>
          <a:xfrm>
            <a:off x="697944" y="4841319"/>
            <a:ext cx="4278630" cy="957263"/>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Text was tokenized into individual words, and common stopwords were removed to reduce noise.</a:t>
            </a:r>
            <a:endParaRPr lang="en-US" sz="1550" dirty="0"/>
          </a:p>
        </p:txBody>
      </p:sp>
      <p:pic>
        <p:nvPicPr>
          <p:cNvPr id="19" name="Image 4" descr="preencoded.png"/>
          <p:cNvPicPr>
            <a:picLocks noChangeAspect="1"/>
          </p:cNvPicPr>
          <p:nvPr/>
        </p:nvPicPr>
        <p:blipFill>
          <a:blip r:embed="rId7"/>
          <a:stretch>
            <a:fillRect/>
          </a:stretch>
        </p:blipFill>
        <p:spPr>
          <a:xfrm>
            <a:off x="5175885" y="3948946"/>
            <a:ext cx="199311" cy="249198"/>
          </a:xfrm>
          <a:prstGeom prst="rect">
            <a:avLst/>
          </a:prstGeom>
        </p:spPr>
      </p:pic>
      <p:sp>
        <p:nvSpPr>
          <p:cNvPr id="20" name="Shape 13"/>
          <p:cNvSpPr/>
          <p:nvPr/>
        </p:nvSpPr>
        <p:spPr>
          <a:xfrm>
            <a:off x="5175885" y="4264819"/>
            <a:ext cx="4278630" cy="22860"/>
          </a:xfrm>
          <a:prstGeom prst="rect">
            <a:avLst/>
          </a:prstGeom>
          <a:solidFill>
            <a:srgbClr val="1B1B27"/>
          </a:solidFill>
          <a:ln/>
        </p:spPr>
      </p:sp>
      <p:sp>
        <p:nvSpPr>
          <p:cNvPr id="21" name="Text 14"/>
          <p:cNvSpPr/>
          <p:nvPr/>
        </p:nvSpPr>
        <p:spPr>
          <a:xfrm>
            <a:off x="5175885" y="4410194"/>
            <a:ext cx="382250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Label Encoding &amp; Data Balancing</a:t>
            </a:r>
            <a:endParaRPr lang="en-US" sz="1950" dirty="0"/>
          </a:p>
        </p:txBody>
      </p:sp>
      <p:sp>
        <p:nvSpPr>
          <p:cNvPr id="22" name="Text 15"/>
          <p:cNvSpPr/>
          <p:nvPr/>
        </p:nvSpPr>
        <p:spPr>
          <a:xfrm>
            <a:off x="5175885" y="4841319"/>
            <a:ext cx="4278630" cy="957263"/>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Categorical labels were encoded, and techniques were applied to balance the dataset, preventing bias towards dominant classes.</a:t>
            </a:r>
            <a:endParaRPr lang="en-US" sz="1550" dirty="0"/>
          </a:p>
        </p:txBody>
      </p:sp>
      <p:pic>
        <p:nvPicPr>
          <p:cNvPr id="23" name="Image 5" descr="preencoded.png"/>
          <p:cNvPicPr>
            <a:picLocks noChangeAspect="1"/>
          </p:cNvPicPr>
          <p:nvPr/>
        </p:nvPicPr>
        <p:blipFill>
          <a:blip r:embed="rId8"/>
          <a:stretch>
            <a:fillRect/>
          </a:stretch>
        </p:blipFill>
        <p:spPr>
          <a:xfrm>
            <a:off x="9653826" y="3948946"/>
            <a:ext cx="199311" cy="249198"/>
          </a:xfrm>
          <a:prstGeom prst="rect">
            <a:avLst/>
          </a:prstGeom>
        </p:spPr>
      </p:pic>
      <p:sp>
        <p:nvSpPr>
          <p:cNvPr id="24" name="Shape 16"/>
          <p:cNvSpPr/>
          <p:nvPr/>
        </p:nvSpPr>
        <p:spPr>
          <a:xfrm>
            <a:off x="9653826" y="4264819"/>
            <a:ext cx="4278630" cy="22860"/>
          </a:xfrm>
          <a:prstGeom prst="rect">
            <a:avLst/>
          </a:prstGeom>
          <a:solidFill>
            <a:srgbClr val="1B1B27"/>
          </a:solidFill>
          <a:ln/>
        </p:spPr>
      </p:sp>
      <p:sp>
        <p:nvSpPr>
          <p:cNvPr id="25" name="Text 17"/>
          <p:cNvSpPr/>
          <p:nvPr/>
        </p:nvSpPr>
        <p:spPr>
          <a:xfrm>
            <a:off x="9653826" y="4410194"/>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TF-IDF Vectorization</a:t>
            </a:r>
            <a:endParaRPr lang="en-US" sz="1950" dirty="0"/>
          </a:p>
        </p:txBody>
      </p:sp>
      <p:sp>
        <p:nvSpPr>
          <p:cNvPr id="26" name="Text 18"/>
          <p:cNvSpPr/>
          <p:nvPr/>
        </p:nvSpPr>
        <p:spPr>
          <a:xfrm>
            <a:off x="9653826" y="4841319"/>
            <a:ext cx="4278630" cy="957263"/>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Textual data was transformed into numerical features using Term Frequency-Inverse Document Frequency (TF-IDF).</a:t>
            </a:r>
            <a:endParaRPr lang="en-US" sz="1550" dirty="0"/>
          </a:p>
        </p:txBody>
      </p:sp>
      <p:pic>
        <p:nvPicPr>
          <p:cNvPr id="27" name="Image 6" descr="preencoded.png"/>
          <p:cNvPicPr>
            <a:picLocks noChangeAspect="1"/>
          </p:cNvPicPr>
          <p:nvPr/>
        </p:nvPicPr>
        <p:blipFill>
          <a:blip r:embed="rId9"/>
          <a:stretch>
            <a:fillRect/>
          </a:stretch>
        </p:blipFill>
        <p:spPr>
          <a:xfrm>
            <a:off x="697944" y="6147435"/>
            <a:ext cx="199311" cy="249198"/>
          </a:xfrm>
          <a:prstGeom prst="rect">
            <a:avLst/>
          </a:prstGeom>
        </p:spPr>
      </p:pic>
      <p:sp>
        <p:nvSpPr>
          <p:cNvPr id="28" name="Shape 19"/>
          <p:cNvSpPr/>
          <p:nvPr/>
        </p:nvSpPr>
        <p:spPr>
          <a:xfrm>
            <a:off x="697944" y="6463308"/>
            <a:ext cx="13234511" cy="22860"/>
          </a:xfrm>
          <a:prstGeom prst="rect">
            <a:avLst/>
          </a:prstGeom>
          <a:solidFill>
            <a:srgbClr val="1B1B27"/>
          </a:solidFill>
          <a:ln/>
        </p:spPr>
      </p:sp>
      <p:sp>
        <p:nvSpPr>
          <p:cNvPr id="29" name="Text 20"/>
          <p:cNvSpPr/>
          <p:nvPr/>
        </p:nvSpPr>
        <p:spPr>
          <a:xfrm>
            <a:off x="697944" y="6608683"/>
            <a:ext cx="2492812" cy="311587"/>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Data Split</a:t>
            </a:r>
            <a:endParaRPr lang="en-US" sz="1950" dirty="0"/>
          </a:p>
        </p:txBody>
      </p:sp>
      <p:sp>
        <p:nvSpPr>
          <p:cNvPr id="30" name="Text 21"/>
          <p:cNvSpPr/>
          <p:nvPr/>
        </p:nvSpPr>
        <p:spPr>
          <a:xfrm>
            <a:off x="697944" y="7039808"/>
            <a:ext cx="13234511" cy="319088"/>
          </a:xfrm>
          <a:prstGeom prst="rect">
            <a:avLst/>
          </a:prstGeom>
          <a:noFill/>
          <a:ln/>
        </p:spPr>
        <p:txBody>
          <a:bodyPr wrap="non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The preprocessed dataset was split into 80% for training and 20% for testing to evaluate model performance.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6882" y="777716"/>
            <a:ext cx="9986605" cy="684728"/>
          </a:xfrm>
          <a:prstGeom prst="rect">
            <a:avLst/>
          </a:prstGeom>
          <a:noFill/>
          <a:ln/>
        </p:spPr>
        <p:txBody>
          <a:bodyPr wrap="none" lIns="0" tIns="0" rIns="0" bIns="0" rtlCol="0" anchor="t"/>
          <a:lstStyle/>
          <a:p>
            <a:pPr marL="0" indent="0" algn="l">
              <a:lnSpc>
                <a:spcPts val="5350"/>
              </a:lnSpc>
              <a:buNone/>
            </a:pPr>
            <a:r>
              <a:rPr lang="en-US" sz="4300" dirty="0">
                <a:solidFill>
                  <a:srgbClr val="1B1B27"/>
                </a:solidFill>
                <a:latin typeface="Raleway" pitchFamily="34" charset="0"/>
                <a:ea typeface="Raleway" pitchFamily="34" charset="-122"/>
                <a:cs typeface="Raleway" pitchFamily="34" charset="-120"/>
              </a:rPr>
              <a:t>Step 3: Named Entity Recognition (NER)</a:t>
            </a:r>
            <a:endParaRPr lang="en-US" sz="4300" dirty="0"/>
          </a:p>
        </p:txBody>
      </p:sp>
      <p:sp>
        <p:nvSpPr>
          <p:cNvPr id="3" name="Text 1"/>
          <p:cNvSpPr/>
          <p:nvPr/>
        </p:nvSpPr>
        <p:spPr>
          <a:xfrm>
            <a:off x="766882" y="1900595"/>
            <a:ext cx="13096637" cy="701040"/>
          </a:xfrm>
          <a:prstGeom prst="rect">
            <a:avLst/>
          </a:prstGeom>
          <a:noFill/>
          <a:ln/>
        </p:spPr>
        <p:txBody>
          <a:bodyPr wrap="square" lIns="0" tIns="0" rIns="0" bIns="0" rtlCol="0" anchor="t"/>
          <a:lstStyle/>
          <a:p>
            <a:pPr marL="0" indent="0" algn="l">
              <a:lnSpc>
                <a:spcPts val="2750"/>
              </a:lnSpc>
              <a:buNone/>
            </a:pPr>
            <a:r>
              <a:rPr lang="en-US" sz="1700" dirty="0">
                <a:solidFill>
                  <a:srgbClr val="3C3939"/>
                </a:solidFill>
                <a:latin typeface="Roboto" pitchFamily="34" charset="0"/>
                <a:ea typeface="Roboto" pitchFamily="34" charset="-122"/>
                <a:cs typeface="Roboto" pitchFamily="34" charset="-120"/>
              </a:rPr>
              <a:t>Named Entity Recognition (NER) is a crucial step in natural language processing (NLP) that involves identifying and classifying key information (entities) in text into predefined categories such as person names, organizations, locations, dates, and more.</a:t>
            </a:r>
            <a:endParaRPr lang="en-US" sz="1700" dirty="0"/>
          </a:p>
        </p:txBody>
      </p:sp>
      <p:sp>
        <p:nvSpPr>
          <p:cNvPr id="4" name="Text 2"/>
          <p:cNvSpPr/>
          <p:nvPr/>
        </p:nvSpPr>
        <p:spPr>
          <a:xfrm>
            <a:off x="766882" y="2930247"/>
            <a:ext cx="2738914" cy="342305"/>
          </a:xfrm>
          <a:prstGeom prst="rect">
            <a:avLst/>
          </a:prstGeom>
          <a:noFill/>
          <a:ln/>
        </p:spPr>
        <p:txBody>
          <a:bodyPr wrap="none" lIns="0" tIns="0" rIns="0" bIns="0" rtlCol="0" anchor="t"/>
          <a:lstStyle/>
          <a:p>
            <a:pPr marL="0" indent="0" algn="l">
              <a:lnSpc>
                <a:spcPts val="2650"/>
              </a:lnSpc>
              <a:buNone/>
            </a:pPr>
            <a:r>
              <a:rPr lang="en-US" sz="2150" b="1" dirty="0">
                <a:solidFill>
                  <a:srgbClr val="1B1B27"/>
                </a:solidFill>
                <a:latin typeface="Raleway" pitchFamily="34" charset="0"/>
                <a:ea typeface="Raleway" pitchFamily="34" charset="-122"/>
                <a:cs typeface="Raleway" pitchFamily="34" charset="-120"/>
              </a:rPr>
              <a:t>Primary Objectives</a:t>
            </a:r>
            <a:endParaRPr lang="en-US" sz="2150" dirty="0"/>
          </a:p>
        </p:txBody>
      </p:sp>
      <p:sp>
        <p:nvSpPr>
          <p:cNvPr id="5" name="Shape 3"/>
          <p:cNvSpPr/>
          <p:nvPr/>
        </p:nvSpPr>
        <p:spPr>
          <a:xfrm>
            <a:off x="766882" y="3601164"/>
            <a:ext cx="492919" cy="492919"/>
          </a:xfrm>
          <a:prstGeom prst="roundRect">
            <a:avLst>
              <a:gd name="adj" fmla="val 18670"/>
            </a:avLst>
          </a:prstGeom>
          <a:solidFill>
            <a:srgbClr val="E1E1EA"/>
          </a:solidFill>
          <a:ln w="7620">
            <a:solidFill>
              <a:srgbClr val="C7C7D0"/>
            </a:solidFill>
            <a:prstDash val="solid"/>
          </a:ln>
        </p:spPr>
      </p:sp>
      <p:pic>
        <p:nvPicPr>
          <p:cNvPr id="6" name="Image 0" descr="preencoded.png"/>
          <p:cNvPicPr>
            <a:picLocks noChangeAspect="1"/>
          </p:cNvPicPr>
          <p:nvPr/>
        </p:nvPicPr>
        <p:blipFill>
          <a:blip r:embed="rId3"/>
          <a:stretch>
            <a:fillRect/>
          </a:stretch>
        </p:blipFill>
        <p:spPr>
          <a:xfrm>
            <a:off x="849035" y="3642241"/>
            <a:ext cx="328613" cy="410766"/>
          </a:xfrm>
          <a:prstGeom prst="rect">
            <a:avLst/>
          </a:prstGeom>
        </p:spPr>
      </p:pic>
      <p:sp>
        <p:nvSpPr>
          <p:cNvPr id="7" name="Text 4"/>
          <p:cNvSpPr/>
          <p:nvPr/>
        </p:nvSpPr>
        <p:spPr>
          <a:xfrm>
            <a:off x="1478875" y="3672364"/>
            <a:ext cx="3470910" cy="1402080"/>
          </a:xfrm>
          <a:prstGeom prst="rect">
            <a:avLst/>
          </a:prstGeom>
          <a:noFill/>
          <a:ln/>
        </p:spPr>
        <p:txBody>
          <a:bodyPr wrap="squar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Extract Key Entities:</a:t>
            </a:r>
            <a:r>
              <a:rPr lang="en-US" sz="1700" dirty="0">
                <a:solidFill>
                  <a:srgbClr val="3C3939"/>
                </a:solidFill>
                <a:latin typeface="Roboto" pitchFamily="34" charset="0"/>
                <a:ea typeface="Roboto" pitchFamily="34" charset="-122"/>
                <a:cs typeface="Roboto" pitchFamily="34" charset="-120"/>
              </a:rPr>
              <a:t> Identify names of people, organizations, locations, and other relevant entities mentioned in news articles</a:t>
            </a:r>
            <a:endParaRPr lang="en-US" sz="1700" dirty="0"/>
          </a:p>
        </p:txBody>
      </p:sp>
      <p:sp>
        <p:nvSpPr>
          <p:cNvPr id="8" name="Shape 5"/>
          <p:cNvSpPr/>
          <p:nvPr/>
        </p:nvSpPr>
        <p:spPr>
          <a:xfrm>
            <a:off x="5223629" y="3601164"/>
            <a:ext cx="492919" cy="492919"/>
          </a:xfrm>
          <a:prstGeom prst="roundRect">
            <a:avLst>
              <a:gd name="adj" fmla="val 18670"/>
            </a:avLst>
          </a:prstGeom>
          <a:solidFill>
            <a:srgbClr val="E1E1EA"/>
          </a:solidFill>
          <a:ln w="7620">
            <a:solidFill>
              <a:srgbClr val="C7C7D0"/>
            </a:solidFill>
            <a:prstDash val="solid"/>
          </a:ln>
        </p:spPr>
      </p:sp>
      <p:pic>
        <p:nvPicPr>
          <p:cNvPr id="9" name="Image 1" descr="preencoded.png"/>
          <p:cNvPicPr>
            <a:picLocks noChangeAspect="1"/>
          </p:cNvPicPr>
          <p:nvPr/>
        </p:nvPicPr>
        <p:blipFill>
          <a:blip r:embed="rId4"/>
          <a:stretch>
            <a:fillRect/>
          </a:stretch>
        </p:blipFill>
        <p:spPr>
          <a:xfrm>
            <a:off x="5305782" y="3642241"/>
            <a:ext cx="328613" cy="410766"/>
          </a:xfrm>
          <a:prstGeom prst="rect">
            <a:avLst/>
          </a:prstGeom>
        </p:spPr>
      </p:pic>
      <p:sp>
        <p:nvSpPr>
          <p:cNvPr id="10" name="Text 6"/>
          <p:cNvSpPr/>
          <p:nvPr/>
        </p:nvSpPr>
        <p:spPr>
          <a:xfrm>
            <a:off x="5935623" y="3672364"/>
            <a:ext cx="3471029" cy="1402080"/>
          </a:xfrm>
          <a:prstGeom prst="rect">
            <a:avLst/>
          </a:prstGeom>
          <a:noFill/>
          <a:ln/>
        </p:spPr>
        <p:txBody>
          <a:bodyPr wrap="squar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Feature Enhancement:</a:t>
            </a:r>
            <a:r>
              <a:rPr lang="en-US" sz="1700" dirty="0">
                <a:solidFill>
                  <a:srgbClr val="3C3939"/>
                </a:solidFill>
                <a:latin typeface="Roboto" pitchFamily="34" charset="0"/>
                <a:ea typeface="Roboto" pitchFamily="34" charset="-122"/>
                <a:cs typeface="Roboto" pitchFamily="34" charset="-120"/>
              </a:rPr>
              <a:t> Enrich the dataset with entity-based features to improve machine learning model performance</a:t>
            </a:r>
            <a:endParaRPr lang="en-US" sz="1700" dirty="0"/>
          </a:p>
        </p:txBody>
      </p:sp>
      <p:sp>
        <p:nvSpPr>
          <p:cNvPr id="11" name="Shape 7"/>
          <p:cNvSpPr/>
          <p:nvPr/>
        </p:nvSpPr>
        <p:spPr>
          <a:xfrm>
            <a:off x="9680496" y="3601164"/>
            <a:ext cx="492919" cy="492919"/>
          </a:xfrm>
          <a:prstGeom prst="roundRect">
            <a:avLst>
              <a:gd name="adj" fmla="val 18670"/>
            </a:avLst>
          </a:prstGeom>
          <a:solidFill>
            <a:srgbClr val="E1E1EA"/>
          </a:solidFill>
          <a:ln w="7620">
            <a:solidFill>
              <a:srgbClr val="C7C7D0"/>
            </a:solidFill>
            <a:prstDash val="solid"/>
          </a:ln>
        </p:spPr>
      </p:sp>
      <p:pic>
        <p:nvPicPr>
          <p:cNvPr id="12" name="Image 2" descr="preencoded.png"/>
          <p:cNvPicPr>
            <a:picLocks noChangeAspect="1"/>
          </p:cNvPicPr>
          <p:nvPr/>
        </p:nvPicPr>
        <p:blipFill>
          <a:blip r:embed="rId5"/>
          <a:stretch>
            <a:fillRect/>
          </a:stretch>
        </p:blipFill>
        <p:spPr>
          <a:xfrm>
            <a:off x="9762649" y="3642241"/>
            <a:ext cx="328613" cy="410766"/>
          </a:xfrm>
          <a:prstGeom prst="rect">
            <a:avLst/>
          </a:prstGeom>
        </p:spPr>
      </p:pic>
      <p:sp>
        <p:nvSpPr>
          <p:cNvPr id="13" name="Text 8"/>
          <p:cNvSpPr/>
          <p:nvPr/>
        </p:nvSpPr>
        <p:spPr>
          <a:xfrm>
            <a:off x="10392489" y="3672364"/>
            <a:ext cx="3471029" cy="1402080"/>
          </a:xfrm>
          <a:prstGeom prst="rect">
            <a:avLst/>
          </a:prstGeom>
          <a:noFill/>
          <a:ln/>
        </p:spPr>
        <p:txBody>
          <a:bodyPr wrap="squar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Pattern Analysis:</a:t>
            </a:r>
            <a:r>
              <a:rPr lang="en-US" sz="1700" dirty="0">
                <a:solidFill>
                  <a:srgbClr val="3C3939"/>
                </a:solidFill>
                <a:latin typeface="Roboto" pitchFamily="34" charset="0"/>
                <a:ea typeface="Roboto" pitchFamily="34" charset="-122"/>
                <a:cs typeface="Roboto" pitchFamily="34" charset="-120"/>
              </a:rPr>
              <a:t> Analyze entity distribution between fake and real news to detect unusual trends or anomalies</a:t>
            </a:r>
            <a:endParaRPr lang="en-US" sz="1700" dirty="0"/>
          </a:p>
        </p:txBody>
      </p:sp>
      <p:sp>
        <p:nvSpPr>
          <p:cNvPr id="14" name="Text 9"/>
          <p:cNvSpPr/>
          <p:nvPr/>
        </p:nvSpPr>
        <p:spPr>
          <a:xfrm>
            <a:off x="766882" y="5403056"/>
            <a:ext cx="2738914" cy="342305"/>
          </a:xfrm>
          <a:prstGeom prst="rect">
            <a:avLst/>
          </a:prstGeom>
          <a:noFill/>
          <a:ln/>
        </p:spPr>
        <p:txBody>
          <a:bodyPr wrap="none" lIns="0" tIns="0" rIns="0" bIns="0" rtlCol="0" anchor="t"/>
          <a:lstStyle/>
          <a:p>
            <a:pPr marL="0" indent="0" algn="l">
              <a:lnSpc>
                <a:spcPts val="2650"/>
              </a:lnSpc>
              <a:buNone/>
            </a:pPr>
            <a:r>
              <a:rPr lang="en-US" sz="2150" b="1" dirty="0">
                <a:solidFill>
                  <a:srgbClr val="1B1B27"/>
                </a:solidFill>
                <a:latin typeface="Raleway" pitchFamily="34" charset="0"/>
                <a:ea typeface="Raleway" pitchFamily="34" charset="-122"/>
                <a:cs typeface="Raleway" pitchFamily="34" charset="-120"/>
              </a:rPr>
              <a:t>Tools and Libraries</a:t>
            </a:r>
            <a:endParaRPr lang="en-US" sz="2150" dirty="0"/>
          </a:p>
        </p:txBody>
      </p:sp>
      <p:pic>
        <p:nvPicPr>
          <p:cNvPr id="15" name="Image 3" descr="preencoded.png"/>
          <p:cNvPicPr>
            <a:picLocks noChangeAspect="1"/>
          </p:cNvPicPr>
          <p:nvPr/>
        </p:nvPicPr>
        <p:blipFill>
          <a:blip r:embed="rId6"/>
          <a:stretch>
            <a:fillRect/>
          </a:stretch>
        </p:blipFill>
        <p:spPr>
          <a:xfrm>
            <a:off x="766882" y="6073973"/>
            <a:ext cx="219075" cy="273844"/>
          </a:xfrm>
          <a:prstGeom prst="rect">
            <a:avLst/>
          </a:prstGeom>
        </p:spPr>
      </p:pic>
      <p:sp>
        <p:nvSpPr>
          <p:cNvPr id="16" name="Shape 10"/>
          <p:cNvSpPr/>
          <p:nvPr/>
        </p:nvSpPr>
        <p:spPr>
          <a:xfrm>
            <a:off x="766882" y="6415921"/>
            <a:ext cx="6438781" cy="30480"/>
          </a:xfrm>
          <a:prstGeom prst="rect">
            <a:avLst/>
          </a:prstGeom>
          <a:solidFill>
            <a:srgbClr val="1B1B27"/>
          </a:solidFill>
          <a:ln/>
        </p:spPr>
      </p:sp>
      <p:sp>
        <p:nvSpPr>
          <p:cNvPr id="17" name="Text 11"/>
          <p:cNvSpPr/>
          <p:nvPr/>
        </p:nvSpPr>
        <p:spPr>
          <a:xfrm>
            <a:off x="766882" y="6586418"/>
            <a:ext cx="6438781" cy="701040"/>
          </a:xfrm>
          <a:prstGeom prst="rect">
            <a:avLst/>
          </a:prstGeom>
          <a:noFill/>
          <a:ln/>
        </p:spPr>
        <p:txBody>
          <a:bodyPr wrap="squar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Language Model:</a:t>
            </a:r>
            <a:r>
              <a:rPr lang="en-US" sz="1700" dirty="0">
                <a:solidFill>
                  <a:srgbClr val="3C3939"/>
                </a:solidFill>
                <a:latin typeface="Roboto" pitchFamily="34" charset="0"/>
                <a:ea typeface="Roboto" pitchFamily="34" charset="-122"/>
                <a:cs typeface="Roboto" pitchFamily="34" charset="-120"/>
              </a:rPr>
              <a:t> en_core_web_sm was employed as the pre-trained model for entity recognition</a:t>
            </a:r>
            <a:endParaRPr lang="en-US" sz="1700" dirty="0"/>
          </a:p>
        </p:txBody>
      </p:sp>
      <p:pic>
        <p:nvPicPr>
          <p:cNvPr id="18" name="Image 4" descr="preencoded.png"/>
          <p:cNvPicPr>
            <a:picLocks noChangeAspect="1"/>
          </p:cNvPicPr>
          <p:nvPr/>
        </p:nvPicPr>
        <p:blipFill>
          <a:blip r:embed="rId7"/>
          <a:stretch>
            <a:fillRect/>
          </a:stretch>
        </p:blipFill>
        <p:spPr>
          <a:xfrm>
            <a:off x="7424737" y="6073973"/>
            <a:ext cx="219075" cy="273844"/>
          </a:xfrm>
          <a:prstGeom prst="rect">
            <a:avLst/>
          </a:prstGeom>
        </p:spPr>
      </p:pic>
      <p:sp>
        <p:nvSpPr>
          <p:cNvPr id="19" name="Shape 12"/>
          <p:cNvSpPr/>
          <p:nvPr/>
        </p:nvSpPr>
        <p:spPr>
          <a:xfrm>
            <a:off x="7424737" y="6415921"/>
            <a:ext cx="6438781" cy="30480"/>
          </a:xfrm>
          <a:prstGeom prst="rect">
            <a:avLst/>
          </a:prstGeom>
          <a:solidFill>
            <a:srgbClr val="1B1B27"/>
          </a:solidFill>
          <a:ln/>
        </p:spPr>
      </p:sp>
      <p:sp>
        <p:nvSpPr>
          <p:cNvPr id="20" name="Text 13"/>
          <p:cNvSpPr/>
          <p:nvPr/>
        </p:nvSpPr>
        <p:spPr>
          <a:xfrm>
            <a:off x="7424737" y="6586418"/>
            <a:ext cx="6438781" cy="701040"/>
          </a:xfrm>
          <a:prstGeom prst="rect">
            <a:avLst/>
          </a:prstGeom>
          <a:noFill/>
          <a:ln/>
        </p:spPr>
        <p:txBody>
          <a:bodyPr wrap="square" lIns="0" tIns="0" rIns="0" bIns="0" rtlCol="0" anchor="t"/>
          <a:lstStyle/>
          <a:p>
            <a:pPr marL="0" indent="0" algn="l">
              <a:lnSpc>
                <a:spcPts val="2750"/>
              </a:lnSpc>
              <a:buNone/>
            </a:pPr>
            <a:r>
              <a:rPr lang="en-US" sz="1700" b="1" dirty="0">
                <a:solidFill>
                  <a:srgbClr val="3C3939"/>
                </a:solidFill>
                <a:latin typeface="Roboto" pitchFamily="34" charset="0"/>
                <a:ea typeface="Roboto" pitchFamily="34" charset="-122"/>
                <a:cs typeface="Roboto" pitchFamily="34" charset="-120"/>
              </a:rPr>
              <a:t>NER Pipeline:</a:t>
            </a:r>
            <a:r>
              <a:rPr lang="en-US" sz="1700" dirty="0">
                <a:solidFill>
                  <a:srgbClr val="3C3939"/>
                </a:solidFill>
                <a:latin typeface="Roboto" pitchFamily="34" charset="0"/>
                <a:ea typeface="Roboto" pitchFamily="34" charset="-122"/>
                <a:cs typeface="Roboto" pitchFamily="34" charset="-120"/>
              </a:rPr>
              <a:t> spaCy's built-in pipeline automatically identifies and labels entities in the text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87968"/>
            <a:ext cx="6813352"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Step 4: Relation Extraction</a:t>
            </a:r>
            <a:endParaRPr lang="en-US" sz="4450" dirty="0"/>
          </a:p>
        </p:txBody>
      </p:sp>
      <p:sp>
        <p:nvSpPr>
          <p:cNvPr id="3" name="Text 1"/>
          <p:cNvSpPr/>
          <p:nvPr/>
        </p:nvSpPr>
        <p:spPr>
          <a:xfrm>
            <a:off x="793790" y="205037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Relation Extraction follows Named Entity Recognition (NER) and determines how these entities are related within a sentence or across sentences. These relationships are crucial for constructing meaningful connections in the knowledge graph.</a:t>
            </a:r>
            <a:endParaRPr lang="en-US" sz="1750" dirty="0"/>
          </a:p>
        </p:txBody>
      </p:sp>
      <p:sp>
        <p:nvSpPr>
          <p:cNvPr id="4" name="Text 2"/>
          <p:cNvSpPr/>
          <p:nvPr/>
        </p:nvSpPr>
        <p:spPr>
          <a:xfrm>
            <a:off x="793790" y="3116342"/>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Key Components</a:t>
            </a:r>
            <a:endParaRPr lang="en-US" sz="3550" dirty="0"/>
          </a:p>
        </p:txBody>
      </p:sp>
      <p:sp>
        <p:nvSpPr>
          <p:cNvPr id="5" name="Shape 3"/>
          <p:cNvSpPr/>
          <p:nvPr/>
        </p:nvSpPr>
        <p:spPr>
          <a:xfrm>
            <a:off x="793790" y="4023479"/>
            <a:ext cx="4196358" cy="3318153"/>
          </a:xfrm>
          <a:prstGeom prst="roundRect">
            <a:avLst>
              <a:gd name="adj" fmla="val 2871"/>
            </a:avLst>
          </a:prstGeom>
          <a:solidFill>
            <a:srgbClr val="E1E1EA"/>
          </a:solidFill>
          <a:ln w="7620">
            <a:solidFill>
              <a:srgbClr val="C7C7D0"/>
            </a:solidFill>
            <a:prstDash val="solid"/>
          </a:ln>
        </p:spPr>
      </p:sp>
      <p:sp>
        <p:nvSpPr>
          <p:cNvPr id="6" name="Shape 4"/>
          <p:cNvSpPr/>
          <p:nvPr/>
        </p:nvSpPr>
        <p:spPr>
          <a:xfrm>
            <a:off x="1028224" y="4257913"/>
            <a:ext cx="680442" cy="680442"/>
          </a:xfrm>
          <a:prstGeom prst="roundRect">
            <a:avLst>
              <a:gd name="adj" fmla="val 13436980"/>
            </a:avLst>
          </a:prstGeom>
          <a:solidFill>
            <a:srgbClr val="1B1B27"/>
          </a:solidFill>
          <a:ln/>
        </p:spPr>
      </p:sp>
      <p:pic>
        <p:nvPicPr>
          <p:cNvPr id="7" name="Image 0" descr="preencoded.png"/>
          <p:cNvPicPr>
            <a:picLocks noChangeAspect="1"/>
          </p:cNvPicPr>
          <p:nvPr/>
        </p:nvPicPr>
        <p:blipFill>
          <a:blip r:embed="rId3"/>
          <a:stretch>
            <a:fillRect/>
          </a:stretch>
        </p:blipFill>
        <p:spPr>
          <a:xfrm>
            <a:off x="1215390" y="4406741"/>
            <a:ext cx="306110" cy="382667"/>
          </a:xfrm>
          <a:prstGeom prst="rect">
            <a:avLst/>
          </a:prstGeom>
        </p:spPr>
      </p:pic>
      <p:sp>
        <p:nvSpPr>
          <p:cNvPr id="8" name="Text 5"/>
          <p:cNvSpPr/>
          <p:nvPr/>
        </p:nvSpPr>
        <p:spPr>
          <a:xfrm>
            <a:off x="1028224" y="51651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SVO Relationships</a:t>
            </a:r>
            <a:endParaRPr lang="en-US" sz="2200" dirty="0"/>
          </a:p>
        </p:txBody>
      </p:sp>
      <p:sp>
        <p:nvSpPr>
          <p:cNvPr id="9" name="Text 6"/>
          <p:cNvSpPr/>
          <p:nvPr/>
        </p:nvSpPr>
        <p:spPr>
          <a:xfrm>
            <a:off x="1028224" y="5655588"/>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The system implemented relation extraction to identify Subject-Verb-Object (SVO) relationships in the news text.</a:t>
            </a:r>
            <a:endParaRPr lang="en-US" sz="1750" dirty="0"/>
          </a:p>
        </p:txBody>
      </p:sp>
      <p:sp>
        <p:nvSpPr>
          <p:cNvPr id="10" name="Shape 7"/>
          <p:cNvSpPr/>
          <p:nvPr/>
        </p:nvSpPr>
        <p:spPr>
          <a:xfrm>
            <a:off x="5216962" y="4023479"/>
            <a:ext cx="4196358" cy="3318153"/>
          </a:xfrm>
          <a:prstGeom prst="roundRect">
            <a:avLst>
              <a:gd name="adj" fmla="val 2871"/>
            </a:avLst>
          </a:prstGeom>
          <a:solidFill>
            <a:srgbClr val="E1E1EA"/>
          </a:solidFill>
          <a:ln w="7620">
            <a:solidFill>
              <a:srgbClr val="C7C7D0"/>
            </a:solidFill>
            <a:prstDash val="solid"/>
          </a:ln>
        </p:spPr>
      </p:sp>
      <p:sp>
        <p:nvSpPr>
          <p:cNvPr id="11" name="Shape 8"/>
          <p:cNvSpPr/>
          <p:nvPr/>
        </p:nvSpPr>
        <p:spPr>
          <a:xfrm>
            <a:off x="5451396" y="4257913"/>
            <a:ext cx="680442" cy="680442"/>
          </a:xfrm>
          <a:prstGeom prst="roundRect">
            <a:avLst>
              <a:gd name="adj" fmla="val 13436980"/>
            </a:avLst>
          </a:prstGeom>
          <a:solidFill>
            <a:srgbClr val="1B1B27"/>
          </a:solidFill>
          <a:ln/>
        </p:spPr>
      </p:sp>
      <p:pic>
        <p:nvPicPr>
          <p:cNvPr id="12" name="Image 1" descr="preencoded.png"/>
          <p:cNvPicPr>
            <a:picLocks noChangeAspect="1"/>
          </p:cNvPicPr>
          <p:nvPr/>
        </p:nvPicPr>
        <p:blipFill>
          <a:blip r:embed="rId4"/>
          <a:stretch>
            <a:fillRect/>
          </a:stretch>
        </p:blipFill>
        <p:spPr>
          <a:xfrm>
            <a:off x="5638562" y="4406741"/>
            <a:ext cx="306110" cy="382667"/>
          </a:xfrm>
          <a:prstGeom prst="rect">
            <a:avLst/>
          </a:prstGeom>
        </p:spPr>
      </p:pic>
      <p:sp>
        <p:nvSpPr>
          <p:cNvPr id="13" name="Text 9"/>
          <p:cNvSpPr/>
          <p:nvPr/>
        </p:nvSpPr>
        <p:spPr>
          <a:xfrm>
            <a:off x="5451396" y="51651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Triple Formation</a:t>
            </a:r>
            <a:endParaRPr lang="en-US" sz="2200" dirty="0"/>
          </a:p>
        </p:txBody>
      </p:sp>
      <p:sp>
        <p:nvSpPr>
          <p:cNvPr id="14" name="Text 10"/>
          <p:cNvSpPr/>
          <p:nvPr/>
        </p:nvSpPr>
        <p:spPr>
          <a:xfrm>
            <a:off x="5451396" y="5655588"/>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Converting natural language relationships into structured triples (Subject, Predicate, Object).</a:t>
            </a:r>
            <a:endParaRPr lang="en-US" sz="1750" dirty="0"/>
          </a:p>
        </p:txBody>
      </p:sp>
      <p:sp>
        <p:nvSpPr>
          <p:cNvPr id="15" name="Shape 11"/>
          <p:cNvSpPr/>
          <p:nvPr/>
        </p:nvSpPr>
        <p:spPr>
          <a:xfrm>
            <a:off x="9640133" y="4023479"/>
            <a:ext cx="4196358" cy="3318153"/>
          </a:xfrm>
          <a:prstGeom prst="roundRect">
            <a:avLst>
              <a:gd name="adj" fmla="val 2871"/>
            </a:avLst>
          </a:prstGeom>
          <a:solidFill>
            <a:srgbClr val="E1E1EA"/>
          </a:solidFill>
          <a:ln w="7620">
            <a:solidFill>
              <a:srgbClr val="C7C7D0"/>
            </a:solidFill>
            <a:prstDash val="solid"/>
          </a:ln>
        </p:spPr>
      </p:sp>
      <p:sp>
        <p:nvSpPr>
          <p:cNvPr id="16" name="Shape 12"/>
          <p:cNvSpPr/>
          <p:nvPr/>
        </p:nvSpPr>
        <p:spPr>
          <a:xfrm>
            <a:off x="9874568" y="4257913"/>
            <a:ext cx="680442" cy="680442"/>
          </a:xfrm>
          <a:prstGeom prst="roundRect">
            <a:avLst>
              <a:gd name="adj" fmla="val 13436980"/>
            </a:avLst>
          </a:prstGeom>
          <a:solidFill>
            <a:srgbClr val="1B1B27"/>
          </a:solidFill>
          <a:ln/>
        </p:spPr>
      </p:sp>
      <p:pic>
        <p:nvPicPr>
          <p:cNvPr id="17" name="Image 2" descr="preencoded.png"/>
          <p:cNvPicPr>
            <a:picLocks noChangeAspect="1"/>
          </p:cNvPicPr>
          <p:nvPr/>
        </p:nvPicPr>
        <p:blipFill>
          <a:blip r:embed="rId5"/>
          <a:stretch>
            <a:fillRect/>
          </a:stretch>
        </p:blipFill>
        <p:spPr>
          <a:xfrm>
            <a:off x="10061734" y="4406741"/>
            <a:ext cx="306110" cy="382667"/>
          </a:xfrm>
          <a:prstGeom prst="rect">
            <a:avLst/>
          </a:prstGeom>
        </p:spPr>
      </p:pic>
      <p:sp>
        <p:nvSpPr>
          <p:cNvPr id="18" name="Text 13"/>
          <p:cNvSpPr/>
          <p:nvPr/>
        </p:nvSpPr>
        <p:spPr>
          <a:xfrm>
            <a:off x="9874568" y="516516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Storage System</a:t>
            </a:r>
            <a:endParaRPr lang="en-US" sz="2200" dirty="0"/>
          </a:p>
        </p:txBody>
      </p:sp>
      <p:sp>
        <p:nvSpPr>
          <p:cNvPr id="19" name="Text 14"/>
          <p:cNvSpPr/>
          <p:nvPr/>
        </p:nvSpPr>
        <p:spPr>
          <a:xfrm>
            <a:off x="9874568" y="5655588"/>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Extracted triples were systematically stored in a JSON-based database for easy access.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35330"/>
            <a:ext cx="10148887"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Step 5: Knowledge Graph Construction</a:t>
            </a:r>
            <a:endParaRPr lang="en-US" sz="4450" dirty="0"/>
          </a:p>
        </p:txBody>
      </p:sp>
      <p:sp>
        <p:nvSpPr>
          <p:cNvPr id="3" name="Text 1"/>
          <p:cNvSpPr/>
          <p:nvPr/>
        </p:nvSpPr>
        <p:spPr>
          <a:xfrm>
            <a:off x="793790" y="1897737"/>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 Knowledge Graph (KG) represents entities as nodes and relationships as edges, capturing both syntactic and semantic connections between them. Knowledge graphs help in visualizing information networks, identifying hidden patterns, and enabling knowledge-based reasoning.</a:t>
            </a:r>
            <a:endParaRPr lang="en-US" sz="1750" dirty="0"/>
          </a:p>
        </p:txBody>
      </p:sp>
      <p:sp>
        <p:nvSpPr>
          <p:cNvPr id="4" name="Text 2"/>
          <p:cNvSpPr/>
          <p:nvPr/>
        </p:nvSpPr>
        <p:spPr>
          <a:xfrm>
            <a:off x="793790" y="332660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Raleway" pitchFamily="34" charset="0"/>
                <a:ea typeface="Raleway" pitchFamily="34" charset="-122"/>
                <a:cs typeface="Raleway" pitchFamily="34" charset="-120"/>
              </a:rPr>
              <a:t>Key Components</a:t>
            </a:r>
            <a:endParaRPr lang="en-US" sz="2650" dirty="0"/>
          </a:p>
        </p:txBody>
      </p:sp>
      <p:sp>
        <p:nvSpPr>
          <p:cNvPr id="5" name="Text 3"/>
          <p:cNvSpPr/>
          <p:nvPr/>
        </p:nvSpPr>
        <p:spPr>
          <a:xfrm>
            <a:off x="793790" y="3842623"/>
            <a:ext cx="4062532"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Raleway" pitchFamily="34" charset="0"/>
                <a:ea typeface="Raleway" pitchFamily="34" charset="-122"/>
                <a:cs typeface="Raleway" pitchFamily="34" charset="-120"/>
              </a:rPr>
              <a:t>Technical Implementation</a:t>
            </a:r>
            <a:endParaRPr lang="en-US" sz="2650" dirty="0"/>
          </a:p>
        </p:txBody>
      </p:sp>
      <p:sp>
        <p:nvSpPr>
          <p:cNvPr id="6" name="Shape 4"/>
          <p:cNvSpPr/>
          <p:nvPr/>
        </p:nvSpPr>
        <p:spPr>
          <a:xfrm>
            <a:off x="793790" y="4728567"/>
            <a:ext cx="113348" cy="113348"/>
          </a:xfrm>
          <a:prstGeom prst="roundRect">
            <a:avLst>
              <a:gd name="adj" fmla="val 403360"/>
            </a:avLst>
          </a:prstGeom>
          <a:solidFill>
            <a:srgbClr val="1B1B27"/>
          </a:solidFill>
          <a:ln/>
        </p:spPr>
      </p:sp>
      <p:sp>
        <p:nvSpPr>
          <p:cNvPr id="7" name="Text 5"/>
          <p:cNvSpPr/>
          <p:nvPr/>
        </p:nvSpPr>
        <p:spPr>
          <a:xfrm>
            <a:off x="1133951" y="46080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Library</a:t>
            </a:r>
            <a:endParaRPr lang="en-US" sz="2200" dirty="0"/>
          </a:p>
        </p:txBody>
      </p:sp>
      <p:sp>
        <p:nvSpPr>
          <p:cNvPr id="8" name="Text 6"/>
          <p:cNvSpPr/>
          <p:nvPr/>
        </p:nvSpPr>
        <p:spPr>
          <a:xfrm>
            <a:off x="1133951" y="5098494"/>
            <a:ext cx="6039445" cy="362903"/>
          </a:xfrm>
          <a:prstGeom prst="rect">
            <a:avLst/>
          </a:prstGeom>
          <a:noFill/>
          <a:ln/>
        </p:spPr>
        <p:txBody>
          <a:bodyPr wrap="non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NetworkX for robust graph construction and manipulation.</a:t>
            </a:r>
            <a:endParaRPr lang="en-US" sz="1750" dirty="0"/>
          </a:p>
        </p:txBody>
      </p:sp>
      <p:sp>
        <p:nvSpPr>
          <p:cNvPr id="9" name="Shape 7"/>
          <p:cNvSpPr/>
          <p:nvPr/>
        </p:nvSpPr>
        <p:spPr>
          <a:xfrm>
            <a:off x="7456884" y="4728567"/>
            <a:ext cx="113348" cy="113348"/>
          </a:xfrm>
          <a:prstGeom prst="roundRect">
            <a:avLst>
              <a:gd name="adj" fmla="val 403360"/>
            </a:avLst>
          </a:prstGeom>
          <a:solidFill>
            <a:srgbClr val="1B1B27"/>
          </a:solidFill>
          <a:ln/>
        </p:spPr>
      </p:sp>
      <p:sp>
        <p:nvSpPr>
          <p:cNvPr id="10" name="Text 8"/>
          <p:cNvSpPr/>
          <p:nvPr/>
        </p:nvSpPr>
        <p:spPr>
          <a:xfrm>
            <a:off x="7797046" y="460807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Nodes</a:t>
            </a:r>
            <a:endParaRPr lang="en-US" sz="2200" dirty="0"/>
          </a:p>
        </p:txBody>
      </p:sp>
      <p:sp>
        <p:nvSpPr>
          <p:cNvPr id="11" name="Text 9"/>
          <p:cNvSpPr/>
          <p:nvPr/>
        </p:nvSpPr>
        <p:spPr>
          <a:xfrm>
            <a:off x="7797046" y="5098494"/>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Directly represent extracted entities derived from Named Entity Recognition (NER).</a:t>
            </a:r>
            <a:endParaRPr lang="en-US" sz="1750" dirty="0"/>
          </a:p>
        </p:txBody>
      </p:sp>
      <p:sp>
        <p:nvSpPr>
          <p:cNvPr id="12" name="Shape 10"/>
          <p:cNvSpPr/>
          <p:nvPr/>
        </p:nvSpPr>
        <p:spPr>
          <a:xfrm>
            <a:off x="793790" y="6398419"/>
            <a:ext cx="113348" cy="113348"/>
          </a:xfrm>
          <a:prstGeom prst="roundRect">
            <a:avLst>
              <a:gd name="adj" fmla="val 403360"/>
            </a:avLst>
          </a:prstGeom>
          <a:solidFill>
            <a:srgbClr val="1B1B27"/>
          </a:solidFill>
          <a:ln/>
        </p:spPr>
      </p:sp>
      <p:sp>
        <p:nvSpPr>
          <p:cNvPr id="13" name="Text 11"/>
          <p:cNvSpPr/>
          <p:nvPr/>
        </p:nvSpPr>
        <p:spPr>
          <a:xfrm>
            <a:off x="1133951" y="62779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Edges</a:t>
            </a:r>
            <a:endParaRPr lang="en-US" sz="2200" dirty="0"/>
          </a:p>
        </p:txBody>
      </p:sp>
      <p:sp>
        <p:nvSpPr>
          <p:cNvPr id="14" name="Text 12"/>
          <p:cNvSpPr/>
          <p:nvPr/>
        </p:nvSpPr>
        <p:spPr>
          <a:xfrm>
            <a:off x="1133951" y="6768346"/>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Formed by relationships identified through relation extraction processes.</a:t>
            </a:r>
            <a:endParaRPr lang="en-US" sz="1750" dirty="0"/>
          </a:p>
        </p:txBody>
      </p:sp>
      <p:sp>
        <p:nvSpPr>
          <p:cNvPr id="15" name="Shape 13"/>
          <p:cNvSpPr/>
          <p:nvPr/>
        </p:nvSpPr>
        <p:spPr>
          <a:xfrm>
            <a:off x="7456884" y="6398419"/>
            <a:ext cx="113348" cy="113348"/>
          </a:xfrm>
          <a:prstGeom prst="roundRect">
            <a:avLst>
              <a:gd name="adj" fmla="val 403360"/>
            </a:avLst>
          </a:prstGeom>
          <a:solidFill>
            <a:srgbClr val="1B1B27"/>
          </a:solidFill>
          <a:ln/>
        </p:spPr>
      </p:sp>
      <p:sp>
        <p:nvSpPr>
          <p:cNvPr id="16" name="Text 14"/>
          <p:cNvSpPr/>
          <p:nvPr/>
        </p:nvSpPr>
        <p:spPr>
          <a:xfrm>
            <a:off x="7797046" y="62779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Labels</a:t>
            </a:r>
            <a:endParaRPr lang="en-US" sz="2200" dirty="0"/>
          </a:p>
        </p:txBody>
      </p:sp>
      <p:sp>
        <p:nvSpPr>
          <p:cNvPr id="17" name="Text 15"/>
          <p:cNvSpPr/>
          <p:nvPr/>
        </p:nvSpPr>
        <p:spPr>
          <a:xfrm>
            <a:off x="7797046" y="6768346"/>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Crucial for capturing precise relationship types and semantic connections between entities.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0329" y="576024"/>
            <a:ext cx="8558093" cy="652105"/>
          </a:xfrm>
          <a:prstGeom prst="rect">
            <a:avLst/>
          </a:prstGeom>
          <a:noFill/>
          <a:ln/>
        </p:spPr>
        <p:txBody>
          <a:bodyPr wrap="none" lIns="0" tIns="0" rIns="0" bIns="0" rtlCol="0" anchor="t"/>
          <a:lstStyle/>
          <a:p>
            <a:pPr marL="0" indent="0" algn="l">
              <a:lnSpc>
                <a:spcPts val="5100"/>
              </a:lnSpc>
              <a:buNone/>
            </a:pPr>
            <a:r>
              <a:rPr lang="en-US" sz="4100" dirty="0">
                <a:solidFill>
                  <a:srgbClr val="1B1B27"/>
                </a:solidFill>
                <a:latin typeface="Raleway" pitchFamily="34" charset="0"/>
                <a:ea typeface="Raleway" pitchFamily="34" charset="-122"/>
                <a:cs typeface="Raleway" pitchFamily="34" charset="-120"/>
              </a:rPr>
              <a:t>Graph Analysis: Centrality Measures</a:t>
            </a:r>
            <a:endParaRPr lang="en-US" sz="4100" dirty="0"/>
          </a:p>
        </p:txBody>
      </p:sp>
      <p:sp>
        <p:nvSpPr>
          <p:cNvPr id="3" name="Text 1"/>
          <p:cNvSpPr/>
          <p:nvPr/>
        </p:nvSpPr>
        <p:spPr>
          <a:xfrm>
            <a:off x="730329" y="1645444"/>
            <a:ext cx="13169741" cy="667703"/>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In complex networks like knowledge graphs, Centrality and Community Detection uncover hidden structures and identify key influencers, providing deeper insights into knowledge organization.</a:t>
            </a:r>
            <a:endParaRPr lang="en-US" sz="1600" dirty="0"/>
          </a:p>
        </p:txBody>
      </p:sp>
      <p:sp>
        <p:nvSpPr>
          <p:cNvPr id="4" name="Text 2"/>
          <p:cNvSpPr/>
          <p:nvPr/>
        </p:nvSpPr>
        <p:spPr>
          <a:xfrm>
            <a:off x="730329" y="2626043"/>
            <a:ext cx="4624030" cy="391239"/>
          </a:xfrm>
          <a:prstGeom prst="rect">
            <a:avLst/>
          </a:prstGeom>
          <a:noFill/>
          <a:ln/>
        </p:spPr>
        <p:txBody>
          <a:bodyPr wrap="none" lIns="0" tIns="0" rIns="0" bIns="0" rtlCol="0" anchor="t"/>
          <a:lstStyle/>
          <a:p>
            <a:pPr marL="0" indent="0" algn="l">
              <a:lnSpc>
                <a:spcPts val="3050"/>
              </a:lnSpc>
              <a:buNone/>
            </a:pPr>
            <a:r>
              <a:rPr lang="en-US" sz="2450" dirty="0">
                <a:solidFill>
                  <a:srgbClr val="1B1B27"/>
                </a:solidFill>
                <a:latin typeface="Raleway" pitchFamily="34" charset="0"/>
                <a:ea typeface="Raleway" pitchFamily="34" charset="-122"/>
                <a:cs typeface="Raleway" pitchFamily="34" charset="-120"/>
              </a:rPr>
              <a:t>Centrality: Quantifying Influence</a:t>
            </a:r>
            <a:endParaRPr lang="en-US" sz="2450" dirty="0"/>
          </a:p>
        </p:txBody>
      </p:sp>
      <p:sp>
        <p:nvSpPr>
          <p:cNvPr id="5" name="Text 3"/>
          <p:cNvSpPr/>
          <p:nvPr/>
        </p:nvSpPr>
        <p:spPr>
          <a:xfrm>
            <a:off x="730329" y="3330178"/>
            <a:ext cx="13169741" cy="667703"/>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Centrality refers to measures that determine the importance or influence of a node. It answers: </a:t>
            </a:r>
            <a:r>
              <a:rPr lang="en-US" sz="1600" i="1" dirty="0">
                <a:solidFill>
                  <a:srgbClr val="3C3939"/>
                </a:solidFill>
                <a:latin typeface="Roboto" pitchFamily="34" charset="0"/>
                <a:ea typeface="Roboto" pitchFamily="34" charset="-122"/>
                <a:cs typeface="Roboto" pitchFamily="34" charset="-120"/>
              </a:rPr>
              <a:t>"Which entity plays a central role in connecting different pieces of information?"</a:t>
            </a:r>
            <a:endParaRPr lang="en-US" sz="1600" dirty="0"/>
          </a:p>
        </p:txBody>
      </p:sp>
      <p:sp>
        <p:nvSpPr>
          <p:cNvPr id="6" name="Shape 4"/>
          <p:cNvSpPr/>
          <p:nvPr/>
        </p:nvSpPr>
        <p:spPr>
          <a:xfrm>
            <a:off x="730329" y="4545449"/>
            <a:ext cx="4250769" cy="2539603"/>
          </a:xfrm>
          <a:prstGeom prst="roundRect">
            <a:avLst>
              <a:gd name="adj" fmla="val 4321"/>
            </a:avLst>
          </a:prstGeom>
          <a:solidFill>
            <a:srgbClr val="FFFFFF">
              <a:alpha val="95000"/>
            </a:srgbClr>
          </a:solidFill>
          <a:ln/>
        </p:spPr>
      </p:sp>
      <p:sp>
        <p:nvSpPr>
          <p:cNvPr id="7" name="Shape 5"/>
          <p:cNvSpPr/>
          <p:nvPr/>
        </p:nvSpPr>
        <p:spPr>
          <a:xfrm>
            <a:off x="730329" y="4522589"/>
            <a:ext cx="4250769" cy="91440"/>
          </a:xfrm>
          <a:prstGeom prst="roundRect">
            <a:avLst>
              <a:gd name="adj" fmla="val 95849"/>
            </a:avLst>
          </a:prstGeom>
          <a:solidFill>
            <a:srgbClr val="1B1B27"/>
          </a:solidFill>
          <a:ln/>
        </p:spPr>
      </p:sp>
      <p:sp>
        <p:nvSpPr>
          <p:cNvPr id="8" name="Shape 6"/>
          <p:cNvSpPr/>
          <p:nvPr/>
        </p:nvSpPr>
        <p:spPr>
          <a:xfrm>
            <a:off x="2542758" y="4232553"/>
            <a:ext cx="625912" cy="625912"/>
          </a:xfrm>
          <a:prstGeom prst="roundRect">
            <a:avLst>
              <a:gd name="adj" fmla="val 146091"/>
            </a:avLst>
          </a:prstGeom>
          <a:solidFill>
            <a:srgbClr val="1B1B27"/>
          </a:solidFill>
          <a:ln/>
        </p:spPr>
      </p:sp>
      <p:pic>
        <p:nvPicPr>
          <p:cNvPr id="9" name="Image 0" descr="preencoded.png"/>
          <p:cNvPicPr>
            <a:picLocks noChangeAspect="1"/>
          </p:cNvPicPr>
          <p:nvPr/>
        </p:nvPicPr>
        <p:blipFill>
          <a:blip r:embed="rId3"/>
          <a:stretch>
            <a:fillRect/>
          </a:stretch>
        </p:blipFill>
        <p:spPr>
          <a:xfrm>
            <a:off x="2730520" y="4389001"/>
            <a:ext cx="250388" cy="312896"/>
          </a:xfrm>
          <a:prstGeom prst="rect">
            <a:avLst/>
          </a:prstGeom>
        </p:spPr>
      </p:pic>
      <p:sp>
        <p:nvSpPr>
          <p:cNvPr id="10" name="Text 7"/>
          <p:cNvSpPr/>
          <p:nvPr/>
        </p:nvSpPr>
        <p:spPr>
          <a:xfrm>
            <a:off x="961787" y="5067062"/>
            <a:ext cx="2608421" cy="325993"/>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Degree Centrality</a:t>
            </a:r>
            <a:endParaRPr lang="en-US" sz="2050" dirty="0"/>
          </a:p>
        </p:txBody>
      </p:sp>
      <p:sp>
        <p:nvSpPr>
          <p:cNvPr id="11" name="Text 8"/>
          <p:cNvSpPr/>
          <p:nvPr/>
        </p:nvSpPr>
        <p:spPr>
          <a:xfrm>
            <a:off x="961787" y="5518190"/>
            <a:ext cx="3787854" cy="1335405"/>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Measures the number of direct connections. High degree suggests the entity is a major topic or concept that interacts frequently.</a:t>
            </a:r>
            <a:endParaRPr lang="en-US" sz="1600" dirty="0"/>
          </a:p>
        </p:txBody>
      </p:sp>
      <p:sp>
        <p:nvSpPr>
          <p:cNvPr id="12" name="Shape 9"/>
          <p:cNvSpPr/>
          <p:nvPr/>
        </p:nvSpPr>
        <p:spPr>
          <a:xfrm>
            <a:off x="5189696" y="4545449"/>
            <a:ext cx="4250888" cy="2539603"/>
          </a:xfrm>
          <a:prstGeom prst="roundRect">
            <a:avLst>
              <a:gd name="adj" fmla="val 4321"/>
            </a:avLst>
          </a:prstGeom>
          <a:solidFill>
            <a:srgbClr val="FFFFFF">
              <a:alpha val="95000"/>
            </a:srgbClr>
          </a:solidFill>
          <a:ln/>
        </p:spPr>
      </p:sp>
      <p:sp>
        <p:nvSpPr>
          <p:cNvPr id="13" name="Shape 10"/>
          <p:cNvSpPr/>
          <p:nvPr/>
        </p:nvSpPr>
        <p:spPr>
          <a:xfrm>
            <a:off x="5189696" y="4522589"/>
            <a:ext cx="4250888" cy="91440"/>
          </a:xfrm>
          <a:prstGeom prst="roundRect">
            <a:avLst>
              <a:gd name="adj" fmla="val 95849"/>
            </a:avLst>
          </a:prstGeom>
          <a:solidFill>
            <a:srgbClr val="1B1B27"/>
          </a:solidFill>
          <a:ln/>
        </p:spPr>
      </p:sp>
      <p:sp>
        <p:nvSpPr>
          <p:cNvPr id="14" name="Shape 11"/>
          <p:cNvSpPr/>
          <p:nvPr/>
        </p:nvSpPr>
        <p:spPr>
          <a:xfrm>
            <a:off x="7002125" y="4232553"/>
            <a:ext cx="625912" cy="625912"/>
          </a:xfrm>
          <a:prstGeom prst="roundRect">
            <a:avLst>
              <a:gd name="adj" fmla="val 146091"/>
            </a:avLst>
          </a:prstGeom>
          <a:solidFill>
            <a:srgbClr val="1B1B27"/>
          </a:solidFill>
          <a:ln/>
        </p:spPr>
      </p:sp>
      <p:pic>
        <p:nvPicPr>
          <p:cNvPr id="15" name="Image 1" descr="preencoded.png"/>
          <p:cNvPicPr>
            <a:picLocks noChangeAspect="1"/>
          </p:cNvPicPr>
          <p:nvPr/>
        </p:nvPicPr>
        <p:blipFill>
          <a:blip r:embed="rId4"/>
          <a:stretch>
            <a:fillRect/>
          </a:stretch>
        </p:blipFill>
        <p:spPr>
          <a:xfrm>
            <a:off x="7189887" y="4389001"/>
            <a:ext cx="250388" cy="312896"/>
          </a:xfrm>
          <a:prstGeom prst="rect">
            <a:avLst/>
          </a:prstGeom>
        </p:spPr>
      </p:pic>
      <p:sp>
        <p:nvSpPr>
          <p:cNvPr id="16" name="Text 12"/>
          <p:cNvSpPr/>
          <p:nvPr/>
        </p:nvSpPr>
        <p:spPr>
          <a:xfrm>
            <a:off x="5421154" y="5067062"/>
            <a:ext cx="2861191" cy="325993"/>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Betweenness Centrality</a:t>
            </a:r>
            <a:endParaRPr lang="en-US" sz="2050" dirty="0"/>
          </a:p>
        </p:txBody>
      </p:sp>
      <p:sp>
        <p:nvSpPr>
          <p:cNvPr id="17" name="Text 13"/>
          <p:cNvSpPr/>
          <p:nvPr/>
        </p:nvSpPr>
        <p:spPr>
          <a:xfrm>
            <a:off x="5421154" y="5518190"/>
            <a:ext cx="3787973" cy="1335405"/>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Measures how often a node lies on the shortest path between others. High betweenness entities act as </a:t>
            </a:r>
            <a:r>
              <a:rPr lang="en-US" sz="1600" b="1" dirty="0">
                <a:solidFill>
                  <a:srgbClr val="3C3939"/>
                </a:solidFill>
                <a:latin typeface="Roboto" pitchFamily="34" charset="0"/>
                <a:ea typeface="Roboto" pitchFamily="34" charset="-122"/>
                <a:cs typeface="Roboto" pitchFamily="34" charset="-120"/>
              </a:rPr>
              <a:t>critical bridges</a:t>
            </a:r>
            <a:r>
              <a:rPr lang="en-US" sz="1600" dirty="0">
                <a:solidFill>
                  <a:srgbClr val="3C3939"/>
                </a:solidFill>
                <a:latin typeface="Roboto" pitchFamily="34" charset="0"/>
                <a:ea typeface="Roboto" pitchFamily="34" charset="-122"/>
                <a:cs typeface="Roboto" pitchFamily="34" charset="-120"/>
              </a:rPr>
              <a:t> or connectors.</a:t>
            </a:r>
            <a:endParaRPr lang="en-US" sz="1600" dirty="0"/>
          </a:p>
        </p:txBody>
      </p:sp>
      <p:sp>
        <p:nvSpPr>
          <p:cNvPr id="18" name="Shape 14"/>
          <p:cNvSpPr/>
          <p:nvPr/>
        </p:nvSpPr>
        <p:spPr>
          <a:xfrm>
            <a:off x="9649182" y="4545449"/>
            <a:ext cx="4250769" cy="2539603"/>
          </a:xfrm>
          <a:prstGeom prst="roundRect">
            <a:avLst>
              <a:gd name="adj" fmla="val 4321"/>
            </a:avLst>
          </a:prstGeom>
          <a:solidFill>
            <a:srgbClr val="FFFFFF">
              <a:alpha val="95000"/>
            </a:srgbClr>
          </a:solidFill>
          <a:ln/>
        </p:spPr>
      </p:sp>
      <p:sp>
        <p:nvSpPr>
          <p:cNvPr id="19" name="Shape 15"/>
          <p:cNvSpPr/>
          <p:nvPr/>
        </p:nvSpPr>
        <p:spPr>
          <a:xfrm>
            <a:off x="9649182" y="4522589"/>
            <a:ext cx="4250769" cy="91440"/>
          </a:xfrm>
          <a:prstGeom prst="roundRect">
            <a:avLst>
              <a:gd name="adj" fmla="val 95849"/>
            </a:avLst>
          </a:prstGeom>
          <a:solidFill>
            <a:srgbClr val="1B1B27"/>
          </a:solidFill>
          <a:ln/>
        </p:spPr>
      </p:sp>
      <p:sp>
        <p:nvSpPr>
          <p:cNvPr id="20" name="Shape 16"/>
          <p:cNvSpPr/>
          <p:nvPr/>
        </p:nvSpPr>
        <p:spPr>
          <a:xfrm>
            <a:off x="11461611" y="4232553"/>
            <a:ext cx="625912" cy="625912"/>
          </a:xfrm>
          <a:prstGeom prst="roundRect">
            <a:avLst>
              <a:gd name="adj" fmla="val 146091"/>
            </a:avLst>
          </a:prstGeom>
          <a:solidFill>
            <a:srgbClr val="1B1B27"/>
          </a:solidFill>
          <a:ln/>
        </p:spPr>
      </p:sp>
      <p:pic>
        <p:nvPicPr>
          <p:cNvPr id="21" name="Image 2" descr="preencoded.png"/>
          <p:cNvPicPr>
            <a:picLocks noChangeAspect="1"/>
          </p:cNvPicPr>
          <p:nvPr/>
        </p:nvPicPr>
        <p:blipFill>
          <a:blip r:embed="rId5"/>
          <a:stretch>
            <a:fillRect/>
          </a:stretch>
        </p:blipFill>
        <p:spPr>
          <a:xfrm>
            <a:off x="11649373" y="4389001"/>
            <a:ext cx="250388" cy="312896"/>
          </a:xfrm>
          <a:prstGeom prst="rect">
            <a:avLst/>
          </a:prstGeom>
        </p:spPr>
      </p:pic>
      <p:sp>
        <p:nvSpPr>
          <p:cNvPr id="22" name="Text 17"/>
          <p:cNvSpPr/>
          <p:nvPr/>
        </p:nvSpPr>
        <p:spPr>
          <a:xfrm>
            <a:off x="9880640" y="5067062"/>
            <a:ext cx="2608421" cy="325993"/>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Closeness Centrality</a:t>
            </a:r>
            <a:endParaRPr lang="en-US" sz="2050" dirty="0"/>
          </a:p>
        </p:txBody>
      </p:sp>
      <p:sp>
        <p:nvSpPr>
          <p:cNvPr id="23" name="Text 18"/>
          <p:cNvSpPr/>
          <p:nvPr/>
        </p:nvSpPr>
        <p:spPr>
          <a:xfrm>
            <a:off x="9880640" y="5518190"/>
            <a:ext cx="3787854" cy="1335405"/>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Indicates how quickly an entity can reach all other nodes. High closeness suggests rapid influence or access to information across the network.</a:t>
            </a:r>
            <a:endParaRPr lang="en-US" sz="1600" dirty="0"/>
          </a:p>
        </p:txBody>
      </p:sp>
      <p:sp>
        <p:nvSpPr>
          <p:cNvPr id="24" name="Text 19"/>
          <p:cNvSpPr/>
          <p:nvPr/>
        </p:nvSpPr>
        <p:spPr>
          <a:xfrm>
            <a:off x="730329" y="7319724"/>
            <a:ext cx="13169741" cy="333851"/>
          </a:xfrm>
          <a:prstGeom prst="rect">
            <a:avLst/>
          </a:prstGeom>
          <a:noFill/>
          <a:ln/>
        </p:spPr>
        <p:txBody>
          <a:bodyPr wrap="non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In this project, centrality highlights the </a:t>
            </a:r>
            <a:r>
              <a:rPr lang="en-US" sz="1600" b="1" dirty="0">
                <a:solidFill>
                  <a:srgbClr val="1B1B27"/>
                </a:solidFill>
                <a:latin typeface="Roboto" pitchFamily="34" charset="0"/>
                <a:ea typeface="Roboto" pitchFamily="34" charset="-122"/>
                <a:cs typeface="Roboto" pitchFamily="34" charset="-120"/>
              </a:rPr>
              <a:t>most influential entities</a:t>
            </a:r>
            <a:r>
              <a:rPr lang="en-US" sz="1600" dirty="0">
                <a:solidFill>
                  <a:srgbClr val="3C3939"/>
                </a:solidFill>
                <a:latin typeface="Roboto" pitchFamily="34" charset="0"/>
                <a:ea typeface="Roboto" pitchFamily="34" charset="-122"/>
                <a:cs typeface="Roboto" pitchFamily="34" charset="-120"/>
              </a:rPr>
              <a:t> (key people, events, or sources) in the news graph.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2109" y="635079"/>
            <a:ext cx="8456890" cy="609005"/>
          </a:xfrm>
          <a:prstGeom prst="rect">
            <a:avLst/>
          </a:prstGeom>
          <a:noFill/>
          <a:ln/>
        </p:spPr>
        <p:txBody>
          <a:bodyPr wrap="none" lIns="0" tIns="0" rIns="0" bIns="0" rtlCol="0" anchor="t"/>
          <a:lstStyle/>
          <a:p>
            <a:pPr marL="0" indent="0" algn="l">
              <a:lnSpc>
                <a:spcPts val="4750"/>
              </a:lnSpc>
              <a:buNone/>
            </a:pPr>
            <a:r>
              <a:rPr lang="en-US" sz="3800" dirty="0">
                <a:solidFill>
                  <a:srgbClr val="1B1B27"/>
                </a:solidFill>
                <a:latin typeface="Raleway" pitchFamily="34" charset="0"/>
                <a:ea typeface="Raleway" pitchFamily="34" charset="-122"/>
                <a:cs typeface="Raleway" pitchFamily="34" charset="-120"/>
              </a:rPr>
              <a:t>Graph Analysis: Community Detection</a:t>
            </a:r>
            <a:endParaRPr lang="en-US" sz="3800" dirty="0"/>
          </a:p>
        </p:txBody>
      </p:sp>
      <p:sp>
        <p:nvSpPr>
          <p:cNvPr id="3" name="Text 1"/>
          <p:cNvSpPr/>
          <p:nvPr/>
        </p:nvSpPr>
        <p:spPr>
          <a:xfrm>
            <a:off x="682109" y="1633776"/>
            <a:ext cx="13266182" cy="623649"/>
          </a:xfrm>
          <a:prstGeom prst="rect">
            <a:avLst/>
          </a:prstGeom>
          <a:noFill/>
          <a:ln/>
        </p:spPr>
        <p:txBody>
          <a:bodyPr wrap="square" lIns="0" tIns="0" rIns="0" bIns="0" rtlCol="0" anchor="t"/>
          <a:lstStyle/>
          <a:p>
            <a:pPr marL="0" indent="0" algn="l">
              <a:lnSpc>
                <a:spcPts val="2450"/>
              </a:lnSpc>
              <a:buNone/>
            </a:pPr>
            <a:r>
              <a:rPr lang="en-US" sz="1500" dirty="0">
                <a:solidFill>
                  <a:srgbClr val="3C3939"/>
                </a:solidFill>
                <a:latin typeface="Roboto" pitchFamily="34" charset="0"/>
                <a:ea typeface="Roboto" pitchFamily="34" charset="-122"/>
                <a:cs typeface="Roboto" pitchFamily="34" charset="-120"/>
              </a:rPr>
              <a:t>Community detection identifies subgroups of nodes that are more densely connected to each other than to the rest of the network, effectively revealing topical clusters.</a:t>
            </a:r>
            <a:endParaRPr lang="en-US" sz="1500" dirty="0"/>
          </a:p>
        </p:txBody>
      </p:sp>
      <p:sp>
        <p:nvSpPr>
          <p:cNvPr id="4" name="Text 2"/>
          <p:cNvSpPr/>
          <p:nvPr/>
        </p:nvSpPr>
        <p:spPr>
          <a:xfrm>
            <a:off x="682109" y="2671405"/>
            <a:ext cx="3394234" cy="365284"/>
          </a:xfrm>
          <a:prstGeom prst="rect">
            <a:avLst/>
          </a:prstGeom>
          <a:noFill/>
          <a:ln/>
        </p:spPr>
        <p:txBody>
          <a:bodyPr wrap="none" lIns="0" tIns="0" rIns="0" bIns="0" rtlCol="0" anchor="t"/>
          <a:lstStyle/>
          <a:p>
            <a:pPr marL="0" indent="0" algn="l">
              <a:lnSpc>
                <a:spcPts val="2850"/>
              </a:lnSpc>
              <a:buNone/>
            </a:pPr>
            <a:r>
              <a:rPr lang="en-US" sz="2300" dirty="0">
                <a:solidFill>
                  <a:srgbClr val="1B1B27"/>
                </a:solidFill>
                <a:latin typeface="Raleway" pitchFamily="34" charset="0"/>
                <a:ea typeface="Raleway" pitchFamily="34" charset="-122"/>
                <a:cs typeface="Raleway" pitchFamily="34" charset="-120"/>
              </a:rPr>
              <a:t>Identifying Topic Clusters</a:t>
            </a:r>
            <a:endParaRPr lang="en-US" sz="2300" dirty="0"/>
          </a:p>
        </p:txBody>
      </p:sp>
      <p:sp>
        <p:nvSpPr>
          <p:cNvPr id="5" name="Text 3"/>
          <p:cNvSpPr/>
          <p:nvPr/>
        </p:nvSpPr>
        <p:spPr>
          <a:xfrm>
            <a:off x="682109" y="3231475"/>
            <a:ext cx="6257806" cy="623649"/>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3C3939"/>
                </a:solidFill>
                <a:latin typeface="Roboto" pitchFamily="34" charset="0"/>
                <a:ea typeface="Roboto" pitchFamily="34" charset="-122"/>
                <a:cs typeface="Roboto" pitchFamily="34" charset="-120"/>
              </a:rPr>
              <a:t>Nodes within a community share strong, consistent relationships or frequently appear together in the same context.</a:t>
            </a:r>
            <a:endParaRPr lang="en-US" sz="1500" dirty="0"/>
          </a:p>
        </p:txBody>
      </p:sp>
      <p:sp>
        <p:nvSpPr>
          <p:cNvPr id="6" name="Text 4"/>
          <p:cNvSpPr/>
          <p:nvPr/>
        </p:nvSpPr>
        <p:spPr>
          <a:xfrm>
            <a:off x="682109" y="3923228"/>
            <a:ext cx="6257806" cy="623649"/>
          </a:xfrm>
          <a:prstGeom prst="rect">
            <a:avLst/>
          </a:prstGeom>
          <a:noFill/>
          <a:ln/>
        </p:spPr>
        <p:txBody>
          <a:bodyPr wrap="square" lIns="0" tIns="0" rIns="0" bIns="0" rtlCol="0" anchor="t"/>
          <a:lstStyle/>
          <a:p>
            <a:pPr marL="342900" indent="-342900" algn="l">
              <a:lnSpc>
                <a:spcPts val="2450"/>
              </a:lnSpc>
              <a:buSzPct val="100000"/>
              <a:buChar char="•"/>
            </a:pPr>
            <a:r>
              <a:rPr lang="en-US" sz="1500" dirty="0">
                <a:solidFill>
                  <a:srgbClr val="3C3939"/>
                </a:solidFill>
                <a:latin typeface="Roboto" pitchFamily="34" charset="0"/>
                <a:ea typeface="Roboto" pitchFamily="34" charset="-122"/>
                <a:cs typeface="Roboto" pitchFamily="34" charset="-120"/>
              </a:rPr>
              <a:t>Communities help reveal topic clusters, such as groups of entities involved in a specific event or domain.</a:t>
            </a:r>
            <a:endParaRPr lang="en-US" sz="1500" dirty="0"/>
          </a:p>
        </p:txBody>
      </p:sp>
      <p:sp>
        <p:nvSpPr>
          <p:cNvPr id="7" name="Text 5"/>
          <p:cNvSpPr/>
          <p:nvPr/>
        </p:nvSpPr>
        <p:spPr>
          <a:xfrm>
            <a:off x="974408" y="4766072"/>
            <a:ext cx="5965508" cy="623649"/>
          </a:xfrm>
          <a:prstGeom prst="rect">
            <a:avLst/>
          </a:prstGeom>
          <a:noFill/>
          <a:ln/>
        </p:spPr>
        <p:txBody>
          <a:bodyPr wrap="square" lIns="0" tIns="0" rIns="0" bIns="0" rtlCol="0" anchor="t"/>
          <a:lstStyle/>
          <a:p>
            <a:pPr marL="0" indent="0" algn="l">
              <a:lnSpc>
                <a:spcPts val="2450"/>
              </a:lnSpc>
              <a:buNone/>
            </a:pPr>
            <a:r>
              <a:rPr lang="en-US" sz="1500" dirty="0">
                <a:solidFill>
                  <a:srgbClr val="3C3939"/>
                </a:solidFill>
                <a:latin typeface="Roboto" pitchFamily="34" charset="0"/>
                <a:ea typeface="Roboto" pitchFamily="34" charset="-122"/>
                <a:cs typeface="Roboto" pitchFamily="34" charset="-120"/>
              </a:rPr>
              <a:t>We used the </a:t>
            </a:r>
            <a:r>
              <a:rPr lang="en-US" sz="1500" b="1" dirty="0">
                <a:solidFill>
                  <a:srgbClr val="3C3939"/>
                </a:solidFill>
                <a:latin typeface="Roboto" pitchFamily="34" charset="0"/>
                <a:ea typeface="Roboto" pitchFamily="34" charset="-122"/>
                <a:cs typeface="Roboto" pitchFamily="34" charset="-120"/>
              </a:rPr>
              <a:t>Louvain Algorithm</a:t>
            </a:r>
            <a:r>
              <a:rPr lang="en-US" sz="1500" dirty="0">
                <a:solidFill>
                  <a:srgbClr val="3C3939"/>
                </a:solidFill>
                <a:latin typeface="Roboto" pitchFamily="34" charset="0"/>
                <a:ea typeface="Roboto" pitchFamily="34" charset="-122"/>
                <a:cs typeface="Roboto" pitchFamily="34" charset="-120"/>
              </a:rPr>
              <a:t>, which detects communities by maximizing </a:t>
            </a:r>
            <a:r>
              <a:rPr lang="en-US" sz="1500" b="1" dirty="0">
                <a:solidFill>
                  <a:srgbClr val="3C3939"/>
                </a:solidFill>
                <a:latin typeface="Roboto" pitchFamily="34" charset="0"/>
                <a:ea typeface="Roboto" pitchFamily="34" charset="-122"/>
                <a:cs typeface="Roboto" pitchFamily="34" charset="-120"/>
              </a:rPr>
              <a:t>modularity</a:t>
            </a:r>
            <a:r>
              <a:rPr lang="en-US" sz="1500" dirty="0">
                <a:solidFill>
                  <a:srgbClr val="3C3939"/>
                </a:solidFill>
                <a:latin typeface="Roboto" pitchFamily="34" charset="0"/>
                <a:ea typeface="Roboto" pitchFamily="34" charset="-122"/>
                <a:cs typeface="Roboto" pitchFamily="34" charset="-120"/>
              </a:rPr>
              <a:t> (dense internal links, sparse external links).</a:t>
            </a:r>
            <a:endParaRPr lang="en-US" sz="1500" dirty="0"/>
          </a:p>
        </p:txBody>
      </p:sp>
      <p:sp>
        <p:nvSpPr>
          <p:cNvPr id="8" name="Text 6"/>
          <p:cNvSpPr/>
          <p:nvPr/>
        </p:nvSpPr>
        <p:spPr>
          <a:xfrm>
            <a:off x="974408" y="5565100"/>
            <a:ext cx="5965508" cy="311825"/>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C3939"/>
                </a:solidFill>
                <a:latin typeface="Roboto" pitchFamily="34" charset="0"/>
                <a:ea typeface="Roboto" pitchFamily="34" charset="-122"/>
                <a:cs typeface="Roboto" pitchFamily="34" charset="-120"/>
              </a:rPr>
              <a:t>Automatically assigns each node to a </a:t>
            </a:r>
            <a:r>
              <a:rPr lang="en-US" sz="1500" b="1" dirty="0">
                <a:solidFill>
                  <a:srgbClr val="3C3939"/>
                </a:solidFill>
                <a:latin typeface="Roboto" pitchFamily="34" charset="0"/>
                <a:ea typeface="Roboto" pitchFamily="34" charset="-122"/>
                <a:cs typeface="Roboto" pitchFamily="34" charset="-120"/>
              </a:rPr>
              <a:t>community ID</a:t>
            </a:r>
            <a:r>
              <a:rPr lang="en-US" sz="1500" dirty="0">
                <a:solidFill>
                  <a:srgbClr val="3C3939"/>
                </a:solidFill>
                <a:latin typeface="Roboto" pitchFamily="34" charset="0"/>
                <a:ea typeface="Roboto" pitchFamily="34" charset="-122"/>
                <a:cs typeface="Roboto" pitchFamily="34" charset="-120"/>
              </a:rPr>
              <a:t>.</a:t>
            </a:r>
            <a:endParaRPr lang="en-US" sz="1500" dirty="0"/>
          </a:p>
        </p:txBody>
      </p:sp>
      <p:sp>
        <p:nvSpPr>
          <p:cNvPr id="9" name="Text 7"/>
          <p:cNvSpPr/>
          <p:nvPr/>
        </p:nvSpPr>
        <p:spPr>
          <a:xfrm>
            <a:off x="974408" y="5945029"/>
            <a:ext cx="5965508" cy="319445"/>
          </a:xfrm>
          <a:prstGeom prst="rect">
            <a:avLst/>
          </a:prstGeom>
          <a:noFill/>
          <a:ln/>
        </p:spPr>
        <p:txBody>
          <a:bodyPr wrap="none" lIns="0" tIns="0" rIns="0" bIns="0" rtlCol="0" anchor="t"/>
          <a:lstStyle/>
          <a:p>
            <a:pPr marL="342900" indent="-342900" algn="l">
              <a:lnSpc>
                <a:spcPts val="2450"/>
              </a:lnSpc>
              <a:buSzPct val="100000"/>
              <a:buChar char="•"/>
            </a:pPr>
            <a:r>
              <a:rPr lang="en-US" sz="1500" dirty="0">
                <a:solidFill>
                  <a:srgbClr val="3C3939"/>
                </a:solidFill>
                <a:latin typeface="Roboto" pitchFamily="34" charset="0"/>
                <a:ea typeface="Roboto" pitchFamily="34" charset="-122"/>
                <a:cs typeface="Roboto" pitchFamily="34" charset="-120"/>
              </a:rPr>
              <a:t>Implemented using the </a:t>
            </a:r>
            <a:r>
              <a:rPr lang="en-US" sz="1500" dirty="0">
                <a:solidFill>
                  <a:srgbClr val="3C3939"/>
                </a:solidFill>
                <a:highlight>
                  <a:srgbClr val="F2F2F2"/>
                </a:highlight>
                <a:latin typeface="Consolas" pitchFamily="34" charset="0"/>
                <a:ea typeface="Consolas" pitchFamily="34" charset="-122"/>
                <a:cs typeface="Consolas" pitchFamily="34" charset="-120"/>
              </a:rPr>
              <a:t>community_louvain</a:t>
            </a:r>
            <a:r>
              <a:rPr lang="en-US" sz="1500" dirty="0">
                <a:solidFill>
                  <a:srgbClr val="3C3939"/>
                </a:solidFill>
                <a:latin typeface="Roboto" pitchFamily="34" charset="0"/>
                <a:ea typeface="Roboto" pitchFamily="34" charset="-122"/>
                <a:cs typeface="Roboto" pitchFamily="34" charset="-120"/>
              </a:rPr>
              <a:t> library.</a:t>
            </a:r>
            <a:endParaRPr lang="en-US" sz="1500" dirty="0"/>
          </a:p>
        </p:txBody>
      </p:sp>
      <p:sp>
        <p:nvSpPr>
          <p:cNvPr id="10" name="Shape 8"/>
          <p:cNvSpPr/>
          <p:nvPr/>
        </p:nvSpPr>
        <p:spPr>
          <a:xfrm>
            <a:off x="682109" y="4766072"/>
            <a:ext cx="22860" cy="1498402"/>
          </a:xfrm>
          <a:prstGeom prst="rect">
            <a:avLst/>
          </a:prstGeom>
          <a:solidFill>
            <a:srgbClr val="1B1B27"/>
          </a:solidFill>
          <a:ln/>
        </p:spPr>
      </p:sp>
      <p:sp>
        <p:nvSpPr>
          <p:cNvPr id="11" name="Text 9"/>
          <p:cNvSpPr/>
          <p:nvPr/>
        </p:nvSpPr>
        <p:spPr>
          <a:xfrm>
            <a:off x="682109" y="6483668"/>
            <a:ext cx="6257806" cy="935474"/>
          </a:xfrm>
          <a:prstGeom prst="rect">
            <a:avLst/>
          </a:prstGeom>
          <a:noFill/>
          <a:ln/>
        </p:spPr>
        <p:txBody>
          <a:bodyPr wrap="square" lIns="0" tIns="0" rIns="0" bIns="0" rtlCol="0" anchor="t"/>
          <a:lstStyle/>
          <a:p>
            <a:pPr marL="0" indent="0" algn="l">
              <a:lnSpc>
                <a:spcPts val="2450"/>
              </a:lnSpc>
              <a:buNone/>
            </a:pPr>
            <a:r>
              <a:rPr lang="en-US" sz="1500" dirty="0">
                <a:solidFill>
                  <a:srgbClr val="3C3939"/>
                </a:solidFill>
                <a:latin typeface="Roboto" pitchFamily="34" charset="0"/>
                <a:ea typeface="Roboto" pitchFamily="34" charset="-122"/>
                <a:cs typeface="Roboto" pitchFamily="34" charset="-120"/>
              </a:rPr>
              <a:t>Community detection helps to </a:t>
            </a:r>
            <a:r>
              <a:rPr lang="en-US" sz="1500" b="1" dirty="0">
                <a:solidFill>
                  <a:srgbClr val="1B1B27"/>
                </a:solidFill>
                <a:latin typeface="Roboto" pitchFamily="34" charset="0"/>
                <a:ea typeface="Roboto" pitchFamily="34" charset="-122"/>
                <a:cs typeface="Roboto" pitchFamily="34" charset="-120"/>
              </a:rPr>
              <a:t>group related news topics</a:t>
            </a:r>
            <a:r>
              <a:rPr lang="en-US" sz="1500" dirty="0">
                <a:solidFill>
                  <a:srgbClr val="3C3939"/>
                </a:solidFill>
                <a:latin typeface="Roboto" pitchFamily="34" charset="0"/>
                <a:ea typeface="Roboto" pitchFamily="34" charset="-122"/>
                <a:cs typeface="Roboto" pitchFamily="34" charset="-120"/>
              </a:rPr>
              <a:t>—e.g., separating "scientific discoveries" from "political events"—providing a clearer contextual map of the news landscape.</a:t>
            </a:r>
            <a:endParaRPr lang="en-US" sz="1500" dirty="0"/>
          </a:p>
        </p:txBody>
      </p:sp>
      <p:pic>
        <p:nvPicPr>
          <p:cNvPr id="12" name="Image 0" descr="preencoded.png"/>
          <p:cNvPicPr>
            <a:picLocks noChangeAspect="1"/>
          </p:cNvPicPr>
          <p:nvPr/>
        </p:nvPicPr>
        <p:blipFill>
          <a:blip r:embed="rId3"/>
          <a:stretch>
            <a:fillRect/>
          </a:stretch>
        </p:blipFill>
        <p:spPr>
          <a:xfrm>
            <a:off x="7423071" y="2695813"/>
            <a:ext cx="5457230" cy="45146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0546" y="441722"/>
            <a:ext cx="8157567" cy="500420"/>
          </a:xfrm>
          <a:prstGeom prst="rect">
            <a:avLst/>
          </a:prstGeom>
          <a:noFill/>
          <a:ln/>
        </p:spPr>
        <p:txBody>
          <a:bodyPr wrap="none" lIns="0" tIns="0" rIns="0" bIns="0" rtlCol="0" anchor="t"/>
          <a:lstStyle/>
          <a:p>
            <a:pPr marL="0" indent="0" algn="l">
              <a:lnSpc>
                <a:spcPts val="3900"/>
              </a:lnSpc>
              <a:buNone/>
            </a:pPr>
            <a:r>
              <a:rPr lang="en-US" sz="3150" dirty="0">
                <a:solidFill>
                  <a:srgbClr val="1B1B27"/>
                </a:solidFill>
                <a:latin typeface="Raleway" pitchFamily="34" charset="0"/>
                <a:ea typeface="Raleway" pitchFamily="34" charset="-122"/>
                <a:cs typeface="Raleway" pitchFamily="34" charset="-120"/>
              </a:rPr>
              <a:t>Knowledge-Driven Question Answering (QA)</a:t>
            </a:r>
            <a:endParaRPr lang="en-US" sz="3150" dirty="0"/>
          </a:p>
        </p:txBody>
      </p:sp>
      <p:sp>
        <p:nvSpPr>
          <p:cNvPr id="3" name="Text 1"/>
          <p:cNvSpPr/>
          <p:nvPr/>
        </p:nvSpPr>
        <p:spPr>
          <a:xfrm>
            <a:off x="560546" y="1262420"/>
            <a:ext cx="13509308" cy="256223"/>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The QA system enables users to query factual information directly from the constructed knowledge graph, leveraging the structured nature of the data.</a:t>
            </a:r>
            <a:endParaRPr lang="en-US" sz="1250" dirty="0"/>
          </a:p>
        </p:txBody>
      </p:sp>
      <p:pic>
        <p:nvPicPr>
          <p:cNvPr id="4" name="Image 0" descr="preencoded.png"/>
          <p:cNvPicPr>
            <a:picLocks noChangeAspect="1"/>
          </p:cNvPicPr>
          <p:nvPr/>
        </p:nvPicPr>
        <p:blipFill>
          <a:blip r:embed="rId3"/>
          <a:stretch>
            <a:fillRect/>
          </a:stretch>
        </p:blipFill>
        <p:spPr>
          <a:xfrm>
            <a:off x="560546" y="1698784"/>
            <a:ext cx="6754654" cy="640556"/>
          </a:xfrm>
          <a:prstGeom prst="rect">
            <a:avLst/>
          </a:prstGeom>
        </p:spPr>
      </p:pic>
      <p:sp>
        <p:nvSpPr>
          <p:cNvPr id="5" name="Text 2"/>
          <p:cNvSpPr/>
          <p:nvPr/>
        </p:nvSpPr>
        <p:spPr>
          <a:xfrm>
            <a:off x="720685" y="2499479"/>
            <a:ext cx="2001917" cy="250150"/>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User Query</a:t>
            </a:r>
            <a:endParaRPr lang="en-US" sz="1550" dirty="0"/>
          </a:p>
        </p:txBody>
      </p:sp>
      <p:sp>
        <p:nvSpPr>
          <p:cNvPr id="6" name="Text 3"/>
          <p:cNvSpPr/>
          <p:nvPr/>
        </p:nvSpPr>
        <p:spPr>
          <a:xfrm>
            <a:off x="720685" y="2845713"/>
            <a:ext cx="6434376" cy="256223"/>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Natural language question is input by the user.</a:t>
            </a:r>
            <a:endParaRPr lang="en-US" sz="1250" dirty="0"/>
          </a:p>
        </p:txBody>
      </p:sp>
      <p:pic>
        <p:nvPicPr>
          <p:cNvPr id="7" name="Image 1" descr="preencoded.png"/>
          <p:cNvPicPr>
            <a:picLocks noChangeAspect="1"/>
          </p:cNvPicPr>
          <p:nvPr/>
        </p:nvPicPr>
        <p:blipFill>
          <a:blip r:embed="rId4"/>
          <a:stretch>
            <a:fillRect/>
          </a:stretch>
        </p:blipFill>
        <p:spPr>
          <a:xfrm>
            <a:off x="7315200" y="1698784"/>
            <a:ext cx="6754654" cy="640556"/>
          </a:xfrm>
          <a:prstGeom prst="rect">
            <a:avLst/>
          </a:prstGeom>
        </p:spPr>
      </p:pic>
      <p:sp>
        <p:nvSpPr>
          <p:cNvPr id="8" name="Text 4"/>
          <p:cNvSpPr/>
          <p:nvPr/>
        </p:nvSpPr>
        <p:spPr>
          <a:xfrm>
            <a:off x="7475339" y="2499479"/>
            <a:ext cx="2001917" cy="250150"/>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Query Conversion</a:t>
            </a:r>
            <a:endParaRPr lang="en-US" sz="1550" dirty="0"/>
          </a:p>
        </p:txBody>
      </p:sp>
      <p:sp>
        <p:nvSpPr>
          <p:cNvPr id="9" name="Text 5"/>
          <p:cNvSpPr/>
          <p:nvPr/>
        </p:nvSpPr>
        <p:spPr>
          <a:xfrm>
            <a:off x="7475339" y="2845713"/>
            <a:ext cx="6434376" cy="512445"/>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System processes the query and converts it into a structured graph pattern (Subject, Predicate, Object).</a:t>
            </a:r>
            <a:endParaRPr lang="en-US" sz="1250" dirty="0"/>
          </a:p>
        </p:txBody>
      </p:sp>
      <p:pic>
        <p:nvPicPr>
          <p:cNvPr id="10" name="Image 2" descr="preencoded.png"/>
          <p:cNvPicPr>
            <a:picLocks noChangeAspect="1"/>
          </p:cNvPicPr>
          <p:nvPr/>
        </p:nvPicPr>
        <p:blipFill>
          <a:blip r:embed="rId5"/>
          <a:stretch>
            <a:fillRect/>
          </a:stretch>
        </p:blipFill>
        <p:spPr>
          <a:xfrm>
            <a:off x="560546" y="3518297"/>
            <a:ext cx="6754654" cy="640556"/>
          </a:xfrm>
          <a:prstGeom prst="rect">
            <a:avLst/>
          </a:prstGeom>
        </p:spPr>
      </p:pic>
      <p:sp>
        <p:nvSpPr>
          <p:cNvPr id="11" name="Text 6"/>
          <p:cNvSpPr/>
          <p:nvPr/>
        </p:nvSpPr>
        <p:spPr>
          <a:xfrm>
            <a:off x="720685" y="4318992"/>
            <a:ext cx="2001917" cy="250150"/>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Graph Search</a:t>
            </a:r>
            <a:endParaRPr lang="en-US" sz="1550" dirty="0"/>
          </a:p>
        </p:txBody>
      </p:sp>
      <p:sp>
        <p:nvSpPr>
          <p:cNvPr id="12" name="Text 7"/>
          <p:cNvSpPr/>
          <p:nvPr/>
        </p:nvSpPr>
        <p:spPr>
          <a:xfrm>
            <a:off x="720685" y="4665226"/>
            <a:ext cx="6434376" cy="256223"/>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System searches the KG edges (relations) to find matching S–P–O triples.</a:t>
            </a:r>
            <a:endParaRPr lang="en-US" sz="1250" dirty="0"/>
          </a:p>
        </p:txBody>
      </p:sp>
      <p:pic>
        <p:nvPicPr>
          <p:cNvPr id="13" name="Image 3" descr="preencoded.png"/>
          <p:cNvPicPr>
            <a:picLocks noChangeAspect="1"/>
          </p:cNvPicPr>
          <p:nvPr/>
        </p:nvPicPr>
        <p:blipFill>
          <a:blip r:embed="rId6"/>
          <a:stretch>
            <a:fillRect/>
          </a:stretch>
        </p:blipFill>
        <p:spPr>
          <a:xfrm>
            <a:off x="7315200" y="3518297"/>
            <a:ext cx="6754654" cy="640556"/>
          </a:xfrm>
          <a:prstGeom prst="rect">
            <a:avLst/>
          </a:prstGeom>
        </p:spPr>
      </p:pic>
      <p:sp>
        <p:nvSpPr>
          <p:cNvPr id="14" name="Text 8"/>
          <p:cNvSpPr/>
          <p:nvPr/>
        </p:nvSpPr>
        <p:spPr>
          <a:xfrm>
            <a:off x="7475339" y="4318992"/>
            <a:ext cx="2001917" cy="250150"/>
          </a:xfrm>
          <a:prstGeom prst="rect">
            <a:avLst/>
          </a:prstGeom>
          <a:noFill/>
          <a:ln/>
        </p:spPr>
        <p:txBody>
          <a:bodyPr wrap="none" lIns="0" tIns="0" rIns="0" bIns="0" rtlCol="0" anchor="t"/>
          <a:lstStyle/>
          <a:p>
            <a:pPr marL="0" indent="0" algn="l">
              <a:lnSpc>
                <a:spcPts val="1950"/>
              </a:lnSpc>
              <a:buNone/>
            </a:pPr>
            <a:r>
              <a:rPr lang="en-US" sz="1550" dirty="0">
                <a:solidFill>
                  <a:srgbClr val="3C3939"/>
                </a:solidFill>
                <a:latin typeface="Raleway" pitchFamily="34" charset="0"/>
                <a:ea typeface="Raleway" pitchFamily="34" charset="-122"/>
                <a:cs typeface="Raleway" pitchFamily="34" charset="-120"/>
              </a:rPr>
              <a:t>Result Output</a:t>
            </a:r>
            <a:endParaRPr lang="en-US" sz="1550" dirty="0"/>
          </a:p>
        </p:txBody>
      </p:sp>
      <p:sp>
        <p:nvSpPr>
          <p:cNvPr id="15" name="Text 9"/>
          <p:cNvSpPr/>
          <p:nvPr/>
        </p:nvSpPr>
        <p:spPr>
          <a:xfrm>
            <a:off x="7475339" y="4665226"/>
            <a:ext cx="6434376" cy="256223"/>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The matched triple or entity is returned as the direct answer.</a:t>
            </a:r>
            <a:endParaRPr lang="en-US" sz="1250" dirty="0"/>
          </a:p>
        </p:txBody>
      </p:sp>
      <p:sp>
        <p:nvSpPr>
          <p:cNvPr id="16" name="Text 10"/>
          <p:cNvSpPr/>
          <p:nvPr/>
        </p:nvSpPr>
        <p:spPr>
          <a:xfrm>
            <a:off x="560546" y="5321737"/>
            <a:ext cx="2547342" cy="300276"/>
          </a:xfrm>
          <a:prstGeom prst="rect">
            <a:avLst/>
          </a:prstGeom>
          <a:noFill/>
          <a:ln/>
        </p:spPr>
        <p:txBody>
          <a:bodyPr wrap="none" lIns="0" tIns="0" rIns="0" bIns="0" rtlCol="0" anchor="t"/>
          <a:lstStyle/>
          <a:p>
            <a:pPr marL="0" indent="0" algn="l">
              <a:lnSpc>
                <a:spcPts val="2350"/>
              </a:lnSpc>
              <a:buNone/>
            </a:pPr>
            <a:r>
              <a:rPr lang="en-US" sz="1850" dirty="0">
                <a:solidFill>
                  <a:srgbClr val="1B1B27"/>
                </a:solidFill>
                <a:latin typeface="Raleway" pitchFamily="34" charset="0"/>
                <a:ea typeface="Raleway" pitchFamily="34" charset="-122"/>
                <a:cs typeface="Raleway" pitchFamily="34" charset="-120"/>
              </a:rPr>
              <a:t>Factual Representation</a:t>
            </a:r>
            <a:endParaRPr lang="en-US" sz="1850" dirty="0"/>
          </a:p>
        </p:txBody>
      </p:sp>
      <p:sp>
        <p:nvSpPr>
          <p:cNvPr id="17" name="Text 11"/>
          <p:cNvSpPr/>
          <p:nvPr/>
        </p:nvSpPr>
        <p:spPr>
          <a:xfrm>
            <a:off x="560546" y="5862161"/>
            <a:ext cx="13509308" cy="256223"/>
          </a:xfrm>
          <a:prstGeom prst="rect">
            <a:avLst/>
          </a:prstGeom>
          <a:noFill/>
          <a:ln/>
        </p:spPr>
        <p:txBody>
          <a:bodyPr wrap="none" lIns="0" tIns="0" rIns="0" bIns="0" rtlCol="0" anchor="t"/>
          <a:lstStyle/>
          <a:p>
            <a:pPr marL="0" indent="0" algn="l">
              <a:lnSpc>
                <a:spcPts val="2000"/>
              </a:lnSpc>
              <a:buNone/>
            </a:pPr>
            <a:r>
              <a:rPr lang="en-US" sz="1250" dirty="0">
                <a:solidFill>
                  <a:srgbClr val="3C3939"/>
                </a:solidFill>
                <a:latin typeface="Roboto" pitchFamily="34" charset="0"/>
                <a:ea typeface="Roboto" pitchFamily="34" charset="-122"/>
                <a:cs typeface="Roboto" pitchFamily="34" charset="-120"/>
              </a:rPr>
              <a:t>The QA system operates on the core unit of the KG: the subject–predicate–object (S–P–O) triple.</a:t>
            </a:r>
            <a:endParaRPr lang="en-US" sz="1250" dirty="0"/>
          </a:p>
        </p:txBody>
      </p:sp>
      <p:sp>
        <p:nvSpPr>
          <p:cNvPr id="18" name="Text 12"/>
          <p:cNvSpPr/>
          <p:nvPr/>
        </p:nvSpPr>
        <p:spPr>
          <a:xfrm>
            <a:off x="800695" y="6478667"/>
            <a:ext cx="13269158" cy="256223"/>
          </a:xfrm>
          <a:prstGeom prst="rect">
            <a:avLst/>
          </a:prstGeom>
          <a:noFill/>
          <a:ln/>
        </p:spPr>
        <p:txBody>
          <a:bodyPr wrap="none" lIns="0" tIns="0" rIns="0" bIns="0" rtlCol="0" anchor="t"/>
          <a:lstStyle/>
          <a:p>
            <a:pPr marL="0" indent="0" algn="l">
              <a:lnSpc>
                <a:spcPts val="2000"/>
              </a:lnSpc>
              <a:buNone/>
            </a:pPr>
            <a:r>
              <a:rPr lang="en-US" sz="1250" b="1" dirty="0">
                <a:solidFill>
                  <a:srgbClr val="3C3939"/>
                </a:solidFill>
                <a:latin typeface="Roboto" pitchFamily="34" charset="0"/>
                <a:ea typeface="Roboto" pitchFamily="34" charset="-122"/>
                <a:cs typeface="Roboto" pitchFamily="34" charset="-120"/>
              </a:rPr>
              <a:t>Example Triple:</a:t>
            </a:r>
            <a:r>
              <a:rPr lang="en-US" sz="1250" dirty="0">
                <a:solidFill>
                  <a:srgbClr val="3C3939"/>
                </a:solidFill>
                <a:latin typeface="Roboto" pitchFamily="34" charset="0"/>
                <a:ea typeface="Roboto" pitchFamily="34" charset="-122"/>
                <a:cs typeface="Roboto" pitchFamily="34" charset="-120"/>
              </a:rPr>
              <a:t> (Marie Curie, discovered, Radioactivity)</a:t>
            </a:r>
            <a:endParaRPr lang="en-US" sz="1250" dirty="0"/>
          </a:p>
        </p:txBody>
      </p:sp>
      <p:sp>
        <p:nvSpPr>
          <p:cNvPr id="19" name="Text 13"/>
          <p:cNvSpPr/>
          <p:nvPr/>
        </p:nvSpPr>
        <p:spPr>
          <a:xfrm>
            <a:off x="800695" y="6915031"/>
            <a:ext cx="13269158" cy="256223"/>
          </a:xfrm>
          <a:prstGeom prst="rect">
            <a:avLst/>
          </a:prstGeom>
          <a:noFill/>
          <a:ln/>
        </p:spPr>
        <p:txBody>
          <a:bodyPr wrap="none" lIns="0" tIns="0" rIns="0" bIns="0" rtlCol="0" anchor="t"/>
          <a:lstStyle/>
          <a:p>
            <a:pPr marL="0" indent="0" algn="l">
              <a:lnSpc>
                <a:spcPts val="2000"/>
              </a:lnSpc>
              <a:buNone/>
            </a:pPr>
            <a:r>
              <a:rPr lang="en-US" sz="1250" b="1" dirty="0">
                <a:solidFill>
                  <a:srgbClr val="3C3939"/>
                </a:solidFill>
                <a:latin typeface="Roboto" pitchFamily="34" charset="0"/>
                <a:ea typeface="Roboto" pitchFamily="34" charset="-122"/>
                <a:cs typeface="Roboto" pitchFamily="34" charset="-120"/>
              </a:rPr>
              <a:t>User Question:</a:t>
            </a:r>
            <a:r>
              <a:rPr lang="en-US" sz="1250" dirty="0">
                <a:solidFill>
                  <a:srgbClr val="3C3939"/>
                </a:solidFill>
                <a:latin typeface="Roboto" pitchFamily="34" charset="0"/>
                <a:ea typeface="Roboto" pitchFamily="34" charset="-122"/>
                <a:cs typeface="Roboto" pitchFamily="34" charset="-120"/>
              </a:rPr>
              <a:t> “Who discovered radioactivity?”</a:t>
            </a:r>
            <a:endParaRPr lang="en-US" sz="1250" dirty="0"/>
          </a:p>
        </p:txBody>
      </p:sp>
      <p:sp>
        <p:nvSpPr>
          <p:cNvPr id="20" name="Text 14"/>
          <p:cNvSpPr/>
          <p:nvPr/>
        </p:nvSpPr>
        <p:spPr>
          <a:xfrm>
            <a:off x="800695" y="7351395"/>
            <a:ext cx="13269158" cy="256223"/>
          </a:xfrm>
          <a:prstGeom prst="rect">
            <a:avLst/>
          </a:prstGeom>
          <a:noFill/>
          <a:ln/>
        </p:spPr>
        <p:txBody>
          <a:bodyPr wrap="none" lIns="0" tIns="0" rIns="0" bIns="0" rtlCol="0" anchor="t"/>
          <a:lstStyle/>
          <a:p>
            <a:pPr marL="0" indent="0" algn="l">
              <a:lnSpc>
                <a:spcPts val="2000"/>
              </a:lnSpc>
              <a:buNone/>
            </a:pPr>
            <a:r>
              <a:rPr lang="en-US" sz="1250" b="1" dirty="0">
                <a:solidFill>
                  <a:srgbClr val="3C3939"/>
                </a:solidFill>
                <a:latin typeface="Roboto" pitchFamily="34" charset="0"/>
                <a:ea typeface="Roboto" pitchFamily="34" charset="-122"/>
                <a:cs typeface="Roboto" pitchFamily="34" charset="-120"/>
              </a:rPr>
              <a:t>System Action:</a:t>
            </a:r>
            <a:r>
              <a:rPr lang="en-US" sz="1250" dirty="0">
                <a:solidFill>
                  <a:srgbClr val="3C3939"/>
                </a:solidFill>
                <a:latin typeface="Roboto" pitchFamily="34" charset="0"/>
                <a:ea typeface="Roboto" pitchFamily="34" charset="-122"/>
                <a:cs typeface="Roboto" pitchFamily="34" charset="-120"/>
              </a:rPr>
              <a:t> Searches for a triple matching (X, discovered, Radioactivity) and returns 'Marie Curie'.</a:t>
            </a:r>
            <a:endParaRPr lang="en-US" sz="1250" dirty="0"/>
          </a:p>
        </p:txBody>
      </p:sp>
      <p:sp>
        <p:nvSpPr>
          <p:cNvPr id="21" name="Shape 15"/>
          <p:cNvSpPr/>
          <p:nvPr/>
        </p:nvSpPr>
        <p:spPr>
          <a:xfrm>
            <a:off x="560546" y="6298525"/>
            <a:ext cx="22860" cy="1489234"/>
          </a:xfrm>
          <a:prstGeom prst="rect">
            <a:avLst/>
          </a:prstGeom>
          <a:solidFill>
            <a:srgbClr val="1B1B27"/>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70059" y="804029"/>
            <a:ext cx="3412450" cy="419695"/>
          </a:xfrm>
          <a:prstGeom prst="rect">
            <a:avLst/>
          </a:prstGeom>
          <a:noFill/>
          <a:ln/>
        </p:spPr>
        <p:txBody>
          <a:bodyPr wrap="none" lIns="0" tIns="0" rIns="0" bIns="0" rtlCol="0" anchor="t"/>
          <a:lstStyle/>
          <a:p>
            <a:pPr marL="0" indent="0" algn="l">
              <a:lnSpc>
                <a:spcPts val="3300"/>
              </a:lnSpc>
              <a:buNone/>
            </a:pPr>
            <a:r>
              <a:rPr lang="en-US" sz="2600" dirty="0">
                <a:solidFill>
                  <a:srgbClr val="1B1B27"/>
                </a:solidFill>
                <a:latin typeface="Raleway" pitchFamily="34" charset="0"/>
                <a:ea typeface="Raleway" pitchFamily="34" charset="-122"/>
                <a:cs typeface="Raleway" pitchFamily="34" charset="-120"/>
              </a:rPr>
              <a:t>Cross-Domain Linking</a:t>
            </a:r>
            <a:endParaRPr lang="en-US" sz="2600" dirty="0"/>
          </a:p>
        </p:txBody>
      </p:sp>
      <p:sp>
        <p:nvSpPr>
          <p:cNvPr id="3" name="Text 1"/>
          <p:cNvSpPr/>
          <p:nvPr/>
        </p:nvSpPr>
        <p:spPr>
          <a:xfrm>
            <a:off x="470059" y="1492329"/>
            <a:ext cx="13690283" cy="214789"/>
          </a:xfrm>
          <a:prstGeom prst="rect">
            <a:avLst/>
          </a:prstGeom>
          <a:noFill/>
          <a:ln/>
        </p:spPr>
        <p:txBody>
          <a:bodyPr wrap="none" lIns="0" tIns="0" rIns="0" bIns="0" rtlCol="0" anchor="t"/>
          <a:lstStyle/>
          <a:p>
            <a:pPr marL="0" indent="0" algn="l">
              <a:lnSpc>
                <a:spcPts val="1650"/>
              </a:lnSpc>
              <a:buNone/>
            </a:pPr>
            <a:r>
              <a:rPr lang="en-US" sz="1050" dirty="0">
                <a:solidFill>
                  <a:srgbClr val="3C3939"/>
                </a:solidFill>
                <a:latin typeface="Roboto" pitchFamily="34" charset="0"/>
                <a:ea typeface="Roboto" pitchFamily="34" charset="-122"/>
                <a:cs typeface="Roboto" pitchFamily="34" charset="-120"/>
              </a:rPr>
              <a:t>The process of connecting related entities and facts across diverse subject areas to create a holistic, contextualized knowledge graph.</a:t>
            </a:r>
            <a:endParaRPr lang="en-US" sz="1050" dirty="0"/>
          </a:p>
        </p:txBody>
      </p:sp>
      <p:sp>
        <p:nvSpPr>
          <p:cNvPr id="4" name="Shape 2"/>
          <p:cNvSpPr/>
          <p:nvPr/>
        </p:nvSpPr>
        <p:spPr>
          <a:xfrm>
            <a:off x="470059" y="2009299"/>
            <a:ext cx="6681311" cy="1072753"/>
          </a:xfrm>
          <a:prstGeom prst="roundRect">
            <a:avLst>
              <a:gd name="adj" fmla="val 6819"/>
            </a:avLst>
          </a:prstGeom>
          <a:solidFill>
            <a:srgbClr val="FFFFFF">
              <a:alpha val="95000"/>
            </a:srgbClr>
          </a:solidFill>
          <a:ln w="15240">
            <a:solidFill>
              <a:srgbClr val="C7C7D0"/>
            </a:solidFill>
            <a:prstDash val="solid"/>
          </a:ln>
        </p:spPr>
      </p:sp>
      <p:sp>
        <p:nvSpPr>
          <p:cNvPr id="5" name="Shape 3"/>
          <p:cNvSpPr/>
          <p:nvPr/>
        </p:nvSpPr>
        <p:spPr>
          <a:xfrm>
            <a:off x="454819" y="2009299"/>
            <a:ext cx="60960" cy="1072753"/>
          </a:xfrm>
          <a:prstGeom prst="roundRect">
            <a:avLst>
              <a:gd name="adj" fmla="val 92533"/>
            </a:avLst>
          </a:prstGeom>
          <a:solidFill>
            <a:srgbClr val="1B1B27"/>
          </a:solidFill>
          <a:ln/>
        </p:spPr>
      </p:sp>
      <p:sp>
        <p:nvSpPr>
          <p:cNvPr id="6" name="Text 4"/>
          <p:cNvSpPr/>
          <p:nvPr/>
        </p:nvSpPr>
        <p:spPr>
          <a:xfrm>
            <a:off x="665321" y="2158841"/>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What It Means</a:t>
            </a:r>
            <a:endParaRPr lang="en-US" sz="1300" dirty="0"/>
          </a:p>
        </p:txBody>
      </p:sp>
      <p:sp>
        <p:nvSpPr>
          <p:cNvPr id="7" name="Text 5"/>
          <p:cNvSpPr/>
          <p:nvPr/>
        </p:nvSpPr>
        <p:spPr>
          <a:xfrm>
            <a:off x="665321" y="2502932"/>
            <a:ext cx="6336506" cy="429578"/>
          </a:xfrm>
          <a:prstGeom prst="rect">
            <a:avLst/>
          </a:prstGeom>
          <a:noFill/>
          <a:ln/>
        </p:spPr>
        <p:txBody>
          <a:bodyPr wrap="square" lIns="0" tIns="0" rIns="0" bIns="0" rtlCol="0" anchor="t"/>
          <a:lstStyle/>
          <a:p>
            <a:pPr marL="0" indent="0" algn="l">
              <a:lnSpc>
                <a:spcPts val="1650"/>
              </a:lnSpc>
              <a:buNone/>
            </a:pPr>
            <a:r>
              <a:rPr lang="en-US" sz="1050" dirty="0">
                <a:solidFill>
                  <a:srgbClr val="3C3939"/>
                </a:solidFill>
                <a:latin typeface="Roboto" pitchFamily="34" charset="0"/>
                <a:ea typeface="Roboto" pitchFamily="34" charset="-122"/>
                <a:cs typeface="Roboto" pitchFamily="34" charset="-120"/>
              </a:rPr>
              <a:t>Connects entities and facts across different knowledge domains (e.g., Politics, Health, Technology) to build a </a:t>
            </a:r>
            <a:r>
              <a:rPr lang="en-US" sz="1050" b="1" dirty="0">
                <a:solidFill>
                  <a:srgbClr val="3C3939"/>
                </a:solidFill>
                <a:latin typeface="Roboto" pitchFamily="34" charset="0"/>
                <a:ea typeface="Roboto" pitchFamily="34" charset="-122"/>
                <a:cs typeface="Roboto" pitchFamily="34" charset="-120"/>
              </a:rPr>
              <a:t>comprehensive and contextual knowledge graph</a:t>
            </a:r>
            <a:r>
              <a:rPr lang="en-US" sz="1050" dirty="0">
                <a:solidFill>
                  <a:srgbClr val="3C3939"/>
                </a:solidFill>
                <a:latin typeface="Roboto" pitchFamily="34" charset="0"/>
                <a:ea typeface="Roboto" pitchFamily="34" charset="-122"/>
                <a:cs typeface="Roboto" pitchFamily="34" charset="-120"/>
              </a:rPr>
              <a:t>.</a:t>
            </a:r>
            <a:endParaRPr lang="en-US" sz="1050" dirty="0"/>
          </a:p>
        </p:txBody>
      </p:sp>
      <p:sp>
        <p:nvSpPr>
          <p:cNvPr id="8" name="Shape 6"/>
          <p:cNvSpPr/>
          <p:nvPr/>
        </p:nvSpPr>
        <p:spPr>
          <a:xfrm>
            <a:off x="7486650" y="2009299"/>
            <a:ext cx="6681311" cy="1381363"/>
          </a:xfrm>
          <a:prstGeom prst="roundRect">
            <a:avLst>
              <a:gd name="adj" fmla="val 5296"/>
            </a:avLst>
          </a:prstGeom>
          <a:solidFill>
            <a:srgbClr val="FFFFFF">
              <a:alpha val="95000"/>
            </a:srgbClr>
          </a:solidFill>
          <a:ln w="15240">
            <a:solidFill>
              <a:srgbClr val="C7C7D0"/>
            </a:solidFill>
            <a:prstDash val="solid"/>
          </a:ln>
        </p:spPr>
      </p:sp>
      <p:sp>
        <p:nvSpPr>
          <p:cNvPr id="9" name="Shape 7"/>
          <p:cNvSpPr/>
          <p:nvPr/>
        </p:nvSpPr>
        <p:spPr>
          <a:xfrm>
            <a:off x="7471410" y="2009299"/>
            <a:ext cx="60960" cy="1381363"/>
          </a:xfrm>
          <a:prstGeom prst="roundRect">
            <a:avLst>
              <a:gd name="adj" fmla="val 92533"/>
            </a:avLst>
          </a:prstGeom>
          <a:solidFill>
            <a:srgbClr val="1B1B27"/>
          </a:solidFill>
          <a:ln/>
        </p:spPr>
      </p:sp>
      <p:sp>
        <p:nvSpPr>
          <p:cNvPr id="10" name="Text 8"/>
          <p:cNvSpPr/>
          <p:nvPr/>
        </p:nvSpPr>
        <p:spPr>
          <a:xfrm>
            <a:off x="7681912" y="2158841"/>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Strategic Importance</a:t>
            </a:r>
            <a:endParaRPr lang="en-US" sz="1300" dirty="0"/>
          </a:p>
        </p:txBody>
      </p:sp>
      <p:sp>
        <p:nvSpPr>
          <p:cNvPr id="11" name="Text 9"/>
          <p:cNvSpPr/>
          <p:nvPr/>
        </p:nvSpPr>
        <p:spPr>
          <a:xfrm>
            <a:off x="7681912" y="2502932"/>
            <a:ext cx="6336506" cy="214789"/>
          </a:xfrm>
          <a:prstGeom prst="rect">
            <a:avLst/>
          </a:prstGeom>
          <a:noFill/>
          <a:ln/>
        </p:spPr>
        <p:txBody>
          <a:bodyPr wrap="none" lIns="0" tIns="0" rIns="0" bIns="0" rtlCol="0" anchor="t"/>
          <a:lstStyle/>
          <a:p>
            <a:pPr marL="342900" indent="-342900" algn="l">
              <a:lnSpc>
                <a:spcPts val="1650"/>
              </a:lnSpc>
              <a:buSzPct val="100000"/>
              <a:buChar char="•"/>
            </a:pPr>
            <a:r>
              <a:rPr lang="en-US" sz="1050" dirty="0">
                <a:solidFill>
                  <a:srgbClr val="3C3939"/>
                </a:solidFill>
                <a:latin typeface="Roboto" pitchFamily="34" charset="0"/>
                <a:ea typeface="Roboto" pitchFamily="34" charset="-122"/>
                <a:cs typeface="Roboto" pitchFamily="34" charset="-120"/>
              </a:rPr>
              <a:t>Exposes </a:t>
            </a:r>
            <a:r>
              <a:rPr lang="en-US" sz="1050" b="1" dirty="0">
                <a:solidFill>
                  <a:srgbClr val="3C3939"/>
                </a:solidFill>
                <a:latin typeface="Roboto" pitchFamily="34" charset="0"/>
                <a:ea typeface="Roboto" pitchFamily="34" charset="-122"/>
                <a:cs typeface="Roboto" pitchFamily="34" charset="-120"/>
              </a:rPr>
              <a:t>hidden relationships</a:t>
            </a:r>
            <a:r>
              <a:rPr lang="en-US" sz="1050" dirty="0">
                <a:solidFill>
                  <a:srgbClr val="3C3939"/>
                </a:solidFill>
                <a:latin typeface="Roboto" pitchFamily="34" charset="0"/>
                <a:ea typeface="Roboto" pitchFamily="34" charset="-122"/>
                <a:cs typeface="Roboto" pitchFamily="34" charset="-120"/>
              </a:rPr>
              <a:t> and misinformation flow, critical for fraud/fake news detection.</a:t>
            </a:r>
            <a:endParaRPr lang="en-US" sz="1050" dirty="0"/>
          </a:p>
        </p:txBody>
      </p:sp>
      <p:sp>
        <p:nvSpPr>
          <p:cNvPr id="12" name="Text 10"/>
          <p:cNvSpPr/>
          <p:nvPr/>
        </p:nvSpPr>
        <p:spPr>
          <a:xfrm>
            <a:off x="7681912" y="2764631"/>
            <a:ext cx="6336506" cy="214789"/>
          </a:xfrm>
          <a:prstGeom prst="rect">
            <a:avLst/>
          </a:prstGeom>
          <a:noFill/>
          <a:ln/>
        </p:spPr>
        <p:txBody>
          <a:bodyPr wrap="none" lIns="0" tIns="0" rIns="0" bIns="0" rtlCol="0" anchor="t"/>
          <a:lstStyle/>
          <a:p>
            <a:pPr marL="342900" indent="-342900" algn="l">
              <a:lnSpc>
                <a:spcPts val="1650"/>
              </a:lnSpc>
              <a:buSzPct val="100000"/>
              <a:buChar char="•"/>
            </a:pPr>
            <a:r>
              <a:rPr lang="en-US" sz="1050" dirty="0">
                <a:solidFill>
                  <a:srgbClr val="3C3939"/>
                </a:solidFill>
                <a:latin typeface="Roboto" pitchFamily="34" charset="0"/>
                <a:ea typeface="Roboto" pitchFamily="34" charset="-122"/>
                <a:cs typeface="Roboto" pitchFamily="34" charset="-120"/>
              </a:rPr>
              <a:t>Enhances </a:t>
            </a:r>
            <a:r>
              <a:rPr lang="en-US" sz="1050" b="1" dirty="0">
                <a:solidFill>
                  <a:srgbClr val="3C3939"/>
                </a:solidFill>
                <a:latin typeface="Roboto" pitchFamily="34" charset="0"/>
                <a:ea typeface="Roboto" pitchFamily="34" charset="-122"/>
                <a:cs typeface="Roboto" pitchFamily="34" charset="-120"/>
              </a:rPr>
              <a:t>semantic understanding</a:t>
            </a:r>
            <a:r>
              <a:rPr lang="en-US" sz="1050" dirty="0">
                <a:solidFill>
                  <a:srgbClr val="3C3939"/>
                </a:solidFill>
                <a:latin typeface="Roboto" pitchFamily="34" charset="0"/>
                <a:ea typeface="Roboto" pitchFamily="34" charset="-122"/>
                <a:cs typeface="Roboto" pitchFamily="34" charset="-120"/>
              </a:rPr>
              <a:t> and reasoning capabilities for advanced QA systems.</a:t>
            </a:r>
            <a:endParaRPr lang="en-US" sz="1050" dirty="0"/>
          </a:p>
        </p:txBody>
      </p:sp>
      <p:sp>
        <p:nvSpPr>
          <p:cNvPr id="13" name="Text 11"/>
          <p:cNvSpPr/>
          <p:nvPr/>
        </p:nvSpPr>
        <p:spPr>
          <a:xfrm>
            <a:off x="7681912" y="3026331"/>
            <a:ext cx="6336506" cy="214789"/>
          </a:xfrm>
          <a:prstGeom prst="rect">
            <a:avLst/>
          </a:prstGeom>
          <a:noFill/>
          <a:ln/>
        </p:spPr>
        <p:txBody>
          <a:bodyPr wrap="none" lIns="0" tIns="0" rIns="0" bIns="0" rtlCol="0" anchor="t"/>
          <a:lstStyle/>
          <a:p>
            <a:pPr marL="342900" indent="-342900" algn="l">
              <a:lnSpc>
                <a:spcPts val="1650"/>
              </a:lnSpc>
              <a:buSzPct val="100000"/>
              <a:buChar char="•"/>
            </a:pPr>
            <a:r>
              <a:rPr lang="en-US" sz="1050" dirty="0">
                <a:solidFill>
                  <a:srgbClr val="3C3939"/>
                </a:solidFill>
                <a:latin typeface="Roboto" pitchFamily="34" charset="0"/>
                <a:ea typeface="Roboto" pitchFamily="34" charset="-122"/>
                <a:cs typeface="Roboto" pitchFamily="34" charset="-120"/>
              </a:rPr>
              <a:t>Allows analysis to transcend single topics, providing a broader, linked context.</a:t>
            </a:r>
            <a:endParaRPr lang="en-US" sz="1050" dirty="0"/>
          </a:p>
        </p:txBody>
      </p:sp>
      <p:sp>
        <p:nvSpPr>
          <p:cNvPr id="14" name="Text 12"/>
          <p:cNvSpPr/>
          <p:nvPr/>
        </p:nvSpPr>
        <p:spPr>
          <a:xfrm>
            <a:off x="470059" y="3743206"/>
            <a:ext cx="3223617" cy="335756"/>
          </a:xfrm>
          <a:prstGeom prst="rect">
            <a:avLst/>
          </a:prstGeom>
          <a:noFill/>
          <a:ln/>
        </p:spPr>
        <p:txBody>
          <a:bodyPr wrap="none" lIns="0" tIns="0" rIns="0" bIns="0" rtlCol="0" anchor="t"/>
          <a:lstStyle/>
          <a:p>
            <a:pPr marL="0" indent="0" algn="l">
              <a:lnSpc>
                <a:spcPts val="2600"/>
              </a:lnSpc>
              <a:buNone/>
            </a:pPr>
            <a:r>
              <a:rPr lang="en-US" sz="2100" dirty="0">
                <a:solidFill>
                  <a:srgbClr val="1B1B27"/>
                </a:solidFill>
                <a:latin typeface="Raleway" pitchFamily="34" charset="0"/>
                <a:ea typeface="Raleway" pitchFamily="34" charset="-122"/>
                <a:cs typeface="Raleway" pitchFamily="34" charset="-120"/>
              </a:rPr>
              <a:t>Implementation Workflow</a:t>
            </a:r>
            <a:endParaRPr lang="en-US" sz="2100" dirty="0"/>
          </a:p>
        </p:txBody>
      </p:sp>
      <p:pic>
        <p:nvPicPr>
          <p:cNvPr id="15" name="Image 0" descr="preencoded.png"/>
          <p:cNvPicPr>
            <a:picLocks noChangeAspect="1"/>
          </p:cNvPicPr>
          <p:nvPr/>
        </p:nvPicPr>
        <p:blipFill>
          <a:blip r:embed="rId3"/>
          <a:stretch>
            <a:fillRect/>
          </a:stretch>
        </p:blipFill>
        <p:spPr>
          <a:xfrm>
            <a:off x="470059" y="4280416"/>
            <a:ext cx="6845141" cy="537210"/>
          </a:xfrm>
          <a:prstGeom prst="rect">
            <a:avLst/>
          </a:prstGeom>
        </p:spPr>
      </p:pic>
      <p:sp>
        <p:nvSpPr>
          <p:cNvPr id="16" name="Text 13"/>
          <p:cNvSpPr/>
          <p:nvPr/>
        </p:nvSpPr>
        <p:spPr>
          <a:xfrm>
            <a:off x="604361" y="4951928"/>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Domain Classification</a:t>
            </a:r>
            <a:endParaRPr lang="en-US" sz="1300" dirty="0"/>
          </a:p>
        </p:txBody>
      </p:sp>
      <p:sp>
        <p:nvSpPr>
          <p:cNvPr id="17" name="Text 14"/>
          <p:cNvSpPr/>
          <p:nvPr/>
        </p:nvSpPr>
        <p:spPr>
          <a:xfrm>
            <a:off x="604361" y="5242203"/>
            <a:ext cx="6576536" cy="214789"/>
          </a:xfrm>
          <a:prstGeom prst="rect">
            <a:avLst/>
          </a:prstGeom>
          <a:noFill/>
          <a:ln/>
        </p:spPr>
        <p:txBody>
          <a:bodyPr wrap="none" lIns="0" tIns="0" rIns="0" bIns="0" rtlCol="0" anchor="t"/>
          <a:lstStyle/>
          <a:p>
            <a:pPr marL="0" indent="0" algn="l">
              <a:lnSpc>
                <a:spcPts val="1650"/>
              </a:lnSpc>
              <a:buNone/>
            </a:pPr>
            <a:r>
              <a:rPr lang="en-US" sz="1050" dirty="0">
                <a:solidFill>
                  <a:srgbClr val="3C3939"/>
                </a:solidFill>
                <a:latin typeface="Roboto" pitchFamily="34" charset="0"/>
                <a:ea typeface="Roboto" pitchFamily="34" charset="-122"/>
                <a:cs typeface="Roboto" pitchFamily="34" charset="-120"/>
              </a:rPr>
              <a:t>Tag each article based on its primary subject (Politics, Health, Tech, etc.).</a:t>
            </a:r>
            <a:endParaRPr lang="en-US" sz="1050" dirty="0"/>
          </a:p>
        </p:txBody>
      </p:sp>
      <p:pic>
        <p:nvPicPr>
          <p:cNvPr id="18" name="Image 1" descr="preencoded.png"/>
          <p:cNvPicPr>
            <a:picLocks noChangeAspect="1"/>
          </p:cNvPicPr>
          <p:nvPr/>
        </p:nvPicPr>
        <p:blipFill>
          <a:blip r:embed="rId4"/>
          <a:stretch>
            <a:fillRect/>
          </a:stretch>
        </p:blipFill>
        <p:spPr>
          <a:xfrm>
            <a:off x="7315200" y="4280416"/>
            <a:ext cx="6845141" cy="537210"/>
          </a:xfrm>
          <a:prstGeom prst="rect">
            <a:avLst/>
          </a:prstGeom>
        </p:spPr>
      </p:pic>
      <p:sp>
        <p:nvSpPr>
          <p:cNvPr id="19" name="Text 15"/>
          <p:cNvSpPr/>
          <p:nvPr/>
        </p:nvSpPr>
        <p:spPr>
          <a:xfrm>
            <a:off x="7449503" y="4951928"/>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Entity Extraction</a:t>
            </a:r>
            <a:endParaRPr lang="en-US" sz="1300" dirty="0"/>
          </a:p>
        </p:txBody>
      </p:sp>
      <p:sp>
        <p:nvSpPr>
          <p:cNvPr id="20" name="Text 16"/>
          <p:cNvSpPr/>
          <p:nvPr/>
        </p:nvSpPr>
        <p:spPr>
          <a:xfrm>
            <a:off x="7449503" y="5242203"/>
            <a:ext cx="6576536" cy="214789"/>
          </a:xfrm>
          <a:prstGeom prst="rect">
            <a:avLst/>
          </a:prstGeom>
          <a:noFill/>
          <a:ln/>
        </p:spPr>
        <p:txBody>
          <a:bodyPr wrap="none" lIns="0" tIns="0" rIns="0" bIns="0" rtlCol="0" anchor="t"/>
          <a:lstStyle/>
          <a:p>
            <a:pPr marL="0" indent="0" algn="l">
              <a:lnSpc>
                <a:spcPts val="1650"/>
              </a:lnSpc>
              <a:buNone/>
            </a:pPr>
            <a:r>
              <a:rPr lang="en-US" sz="1050" dirty="0">
                <a:solidFill>
                  <a:srgbClr val="3C3939"/>
                </a:solidFill>
                <a:latin typeface="Roboto" pitchFamily="34" charset="0"/>
                <a:ea typeface="Roboto" pitchFamily="34" charset="-122"/>
                <a:cs typeface="Roboto" pitchFamily="34" charset="-120"/>
              </a:rPr>
              <a:t>Extract all relevant entities and relational triples using NLP tools like SpaCy.</a:t>
            </a:r>
            <a:endParaRPr lang="en-US" sz="1050" dirty="0"/>
          </a:p>
        </p:txBody>
      </p:sp>
      <p:pic>
        <p:nvPicPr>
          <p:cNvPr id="21" name="Image 2" descr="preencoded.png"/>
          <p:cNvPicPr>
            <a:picLocks noChangeAspect="1"/>
          </p:cNvPicPr>
          <p:nvPr/>
        </p:nvPicPr>
        <p:blipFill>
          <a:blip r:embed="rId5"/>
          <a:stretch>
            <a:fillRect/>
          </a:stretch>
        </p:blipFill>
        <p:spPr>
          <a:xfrm>
            <a:off x="470059" y="5591294"/>
            <a:ext cx="6845141" cy="537210"/>
          </a:xfrm>
          <a:prstGeom prst="rect">
            <a:avLst/>
          </a:prstGeom>
        </p:spPr>
      </p:pic>
      <p:sp>
        <p:nvSpPr>
          <p:cNvPr id="22" name="Text 17"/>
          <p:cNvSpPr/>
          <p:nvPr/>
        </p:nvSpPr>
        <p:spPr>
          <a:xfrm>
            <a:off x="604361" y="6262807"/>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Graph Integration</a:t>
            </a:r>
            <a:endParaRPr lang="en-US" sz="1300" dirty="0"/>
          </a:p>
        </p:txBody>
      </p:sp>
      <p:sp>
        <p:nvSpPr>
          <p:cNvPr id="23" name="Text 18"/>
          <p:cNvSpPr/>
          <p:nvPr/>
        </p:nvSpPr>
        <p:spPr>
          <a:xfrm>
            <a:off x="604361" y="6553081"/>
            <a:ext cx="6576536" cy="214789"/>
          </a:xfrm>
          <a:prstGeom prst="rect">
            <a:avLst/>
          </a:prstGeom>
          <a:noFill/>
          <a:ln/>
        </p:spPr>
        <p:txBody>
          <a:bodyPr wrap="none" lIns="0" tIns="0" rIns="0" bIns="0" rtlCol="0" anchor="t"/>
          <a:lstStyle/>
          <a:p>
            <a:pPr marL="0" indent="0" algn="l">
              <a:lnSpc>
                <a:spcPts val="1650"/>
              </a:lnSpc>
              <a:buNone/>
            </a:pPr>
            <a:r>
              <a:rPr lang="en-US" sz="1050" dirty="0">
                <a:solidFill>
                  <a:srgbClr val="3C3939"/>
                </a:solidFill>
                <a:latin typeface="Roboto" pitchFamily="34" charset="0"/>
                <a:ea typeface="Roboto" pitchFamily="34" charset="-122"/>
                <a:cs typeface="Roboto" pitchFamily="34" charset="-120"/>
              </a:rPr>
              <a:t>Merge domain-specific sub-graphs into a unified, </a:t>
            </a:r>
            <a:r>
              <a:rPr lang="en-US" sz="1050" b="1" dirty="0">
                <a:solidFill>
                  <a:srgbClr val="3C3939"/>
                </a:solidFill>
                <a:latin typeface="Roboto" pitchFamily="34" charset="0"/>
                <a:ea typeface="Roboto" pitchFamily="34" charset="-122"/>
                <a:cs typeface="Roboto" pitchFamily="34" charset="-120"/>
              </a:rPr>
              <a:t>global knowledge graph</a:t>
            </a:r>
            <a:r>
              <a:rPr lang="en-US" sz="1050" dirty="0">
                <a:solidFill>
                  <a:srgbClr val="3C3939"/>
                </a:solidFill>
                <a:latin typeface="Roboto" pitchFamily="34" charset="0"/>
                <a:ea typeface="Roboto" pitchFamily="34" charset="-122"/>
                <a:cs typeface="Roboto" pitchFamily="34" charset="-120"/>
              </a:rPr>
              <a:t>.</a:t>
            </a:r>
            <a:endParaRPr lang="en-US" sz="1050" dirty="0"/>
          </a:p>
        </p:txBody>
      </p:sp>
      <p:pic>
        <p:nvPicPr>
          <p:cNvPr id="24" name="Image 3" descr="preencoded.png"/>
          <p:cNvPicPr>
            <a:picLocks noChangeAspect="1"/>
          </p:cNvPicPr>
          <p:nvPr/>
        </p:nvPicPr>
        <p:blipFill>
          <a:blip r:embed="rId6"/>
          <a:stretch>
            <a:fillRect/>
          </a:stretch>
        </p:blipFill>
        <p:spPr>
          <a:xfrm>
            <a:off x="7315200" y="5591294"/>
            <a:ext cx="6845141" cy="537210"/>
          </a:xfrm>
          <a:prstGeom prst="rect">
            <a:avLst/>
          </a:prstGeom>
        </p:spPr>
      </p:pic>
      <p:sp>
        <p:nvSpPr>
          <p:cNvPr id="25" name="Text 19"/>
          <p:cNvSpPr/>
          <p:nvPr/>
        </p:nvSpPr>
        <p:spPr>
          <a:xfrm>
            <a:off x="7449503" y="6262807"/>
            <a:ext cx="1678781" cy="209788"/>
          </a:xfrm>
          <a:prstGeom prst="rect">
            <a:avLst/>
          </a:prstGeom>
          <a:noFill/>
          <a:ln/>
        </p:spPr>
        <p:txBody>
          <a:bodyPr wrap="none" lIns="0" tIns="0" rIns="0" bIns="0" rtlCol="0" anchor="t"/>
          <a:lstStyle/>
          <a:p>
            <a:pPr marL="0" indent="0" algn="l">
              <a:lnSpc>
                <a:spcPts val="1650"/>
              </a:lnSpc>
              <a:buNone/>
            </a:pPr>
            <a:r>
              <a:rPr lang="en-US" sz="1300" dirty="0">
                <a:solidFill>
                  <a:srgbClr val="3C3939"/>
                </a:solidFill>
                <a:latin typeface="Raleway" pitchFamily="34" charset="0"/>
                <a:ea typeface="Raleway" pitchFamily="34" charset="-122"/>
                <a:cs typeface="Raleway" pitchFamily="34" charset="-120"/>
              </a:rPr>
              <a:t>Multi-Modal Linking</a:t>
            </a:r>
            <a:endParaRPr lang="en-US" sz="1300" dirty="0"/>
          </a:p>
        </p:txBody>
      </p:sp>
      <p:sp>
        <p:nvSpPr>
          <p:cNvPr id="26" name="Text 20"/>
          <p:cNvSpPr/>
          <p:nvPr/>
        </p:nvSpPr>
        <p:spPr>
          <a:xfrm>
            <a:off x="7449503" y="6553081"/>
            <a:ext cx="6576536" cy="214789"/>
          </a:xfrm>
          <a:prstGeom prst="rect">
            <a:avLst/>
          </a:prstGeom>
          <a:noFill/>
          <a:ln/>
        </p:spPr>
        <p:txBody>
          <a:bodyPr wrap="none" lIns="0" tIns="0" rIns="0" bIns="0" rtlCol="0" anchor="t"/>
          <a:lstStyle/>
          <a:p>
            <a:pPr marL="342900" indent="-342900" algn="l">
              <a:lnSpc>
                <a:spcPts val="1650"/>
              </a:lnSpc>
              <a:buSzPct val="100000"/>
              <a:buChar char="•"/>
            </a:pPr>
            <a:r>
              <a:rPr lang="en-US" sz="1050" b="1" dirty="0">
                <a:solidFill>
                  <a:srgbClr val="3C3939"/>
                </a:solidFill>
                <a:latin typeface="Roboto" pitchFamily="34" charset="0"/>
                <a:ea typeface="Roboto" pitchFamily="34" charset="-122"/>
                <a:cs typeface="Roboto" pitchFamily="34" charset="-120"/>
              </a:rPr>
              <a:t>Exact Match:</a:t>
            </a:r>
            <a:r>
              <a:rPr lang="en-US" sz="1050" dirty="0">
                <a:solidFill>
                  <a:srgbClr val="3C3939"/>
                </a:solidFill>
                <a:latin typeface="Roboto" pitchFamily="34" charset="0"/>
                <a:ea typeface="Roboto" pitchFamily="34" charset="-122"/>
                <a:cs typeface="Roboto" pitchFamily="34" charset="-120"/>
              </a:rPr>
              <a:t> Linking based on identical entity names.</a:t>
            </a:r>
            <a:endParaRPr lang="en-US" sz="1050" dirty="0"/>
          </a:p>
        </p:txBody>
      </p:sp>
      <p:sp>
        <p:nvSpPr>
          <p:cNvPr id="27" name="Text 21"/>
          <p:cNvSpPr/>
          <p:nvPr/>
        </p:nvSpPr>
        <p:spPr>
          <a:xfrm>
            <a:off x="7449503" y="6814780"/>
            <a:ext cx="6576536" cy="214789"/>
          </a:xfrm>
          <a:prstGeom prst="rect">
            <a:avLst/>
          </a:prstGeom>
          <a:noFill/>
          <a:ln/>
        </p:spPr>
        <p:txBody>
          <a:bodyPr wrap="none" lIns="0" tIns="0" rIns="0" bIns="0" rtlCol="0" anchor="t"/>
          <a:lstStyle/>
          <a:p>
            <a:pPr marL="342900" indent="-342900" algn="l">
              <a:lnSpc>
                <a:spcPts val="1650"/>
              </a:lnSpc>
              <a:buSzPct val="100000"/>
              <a:buChar char="•"/>
            </a:pPr>
            <a:r>
              <a:rPr lang="en-US" sz="1050" b="1" dirty="0">
                <a:solidFill>
                  <a:srgbClr val="3C3939"/>
                </a:solidFill>
                <a:latin typeface="Roboto" pitchFamily="34" charset="0"/>
                <a:ea typeface="Roboto" pitchFamily="34" charset="-122"/>
                <a:cs typeface="Roboto" pitchFamily="34" charset="-120"/>
              </a:rPr>
              <a:t>Semantic Match:</a:t>
            </a:r>
            <a:r>
              <a:rPr lang="en-US" sz="1050" dirty="0">
                <a:solidFill>
                  <a:srgbClr val="3C3939"/>
                </a:solidFill>
                <a:latin typeface="Roboto" pitchFamily="34" charset="0"/>
                <a:ea typeface="Roboto" pitchFamily="34" charset="-122"/>
                <a:cs typeface="Roboto" pitchFamily="34" charset="-120"/>
              </a:rPr>
              <a:t> Linking entities with similar meaning using embeddings (e.g., SentenceTransformer).</a:t>
            </a:r>
            <a:endParaRPr lang="en-US" sz="1050" dirty="0"/>
          </a:p>
        </p:txBody>
      </p:sp>
      <p:sp>
        <p:nvSpPr>
          <p:cNvPr id="28" name="Text 22"/>
          <p:cNvSpPr/>
          <p:nvPr/>
        </p:nvSpPr>
        <p:spPr>
          <a:xfrm>
            <a:off x="7449503" y="7076480"/>
            <a:ext cx="6576536" cy="214789"/>
          </a:xfrm>
          <a:prstGeom prst="rect">
            <a:avLst/>
          </a:prstGeom>
          <a:noFill/>
          <a:ln/>
        </p:spPr>
        <p:txBody>
          <a:bodyPr wrap="none" lIns="0" tIns="0" rIns="0" bIns="0" rtlCol="0" anchor="t"/>
          <a:lstStyle/>
          <a:p>
            <a:pPr marL="342900" indent="-342900" algn="l">
              <a:lnSpc>
                <a:spcPts val="1650"/>
              </a:lnSpc>
              <a:buSzPct val="100000"/>
              <a:buChar char="•"/>
            </a:pPr>
            <a:r>
              <a:rPr lang="en-US" sz="1050" b="1" dirty="0">
                <a:solidFill>
                  <a:srgbClr val="3C3939"/>
                </a:solidFill>
                <a:latin typeface="Roboto" pitchFamily="34" charset="0"/>
                <a:ea typeface="Roboto" pitchFamily="34" charset="-122"/>
                <a:cs typeface="Roboto" pitchFamily="34" charset="-120"/>
              </a:rPr>
              <a:t>External Linking:</a:t>
            </a:r>
            <a:r>
              <a:rPr lang="en-US" sz="1050" dirty="0">
                <a:solidFill>
                  <a:srgbClr val="3C3939"/>
                </a:solidFill>
                <a:latin typeface="Roboto" pitchFamily="34" charset="0"/>
                <a:ea typeface="Roboto" pitchFamily="34" charset="-122"/>
                <a:cs typeface="Roboto" pitchFamily="34" charset="-120"/>
              </a:rPr>
              <a:t> Aligning entities with external, established sources (Wikidata, DBpedia).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18753" y="730568"/>
            <a:ext cx="7679293" cy="1307783"/>
          </a:xfrm>
          <a:prstGeom prst="rect">
            <a:avLst/>
          </a:prstGeom>
          <a:noFill/>
          <a:ln/>
        </p:spPr>
        <p:txBody>
          <a:bodyPr wrap="square" lIns="0" tIns="0" rIns="0" bIns="0" rtlCol="0" anchor="t"/>
          <a:lstStyle/>
          <a:p>
            <a:pPr marL="0" indent="0" algn="l">
              <a:lnSpc>
                <a:spcPts val="5100"/>
              </a:lnSpc>
              <a:buNone/>
            </a:pPr>
            <a:r>
              <a:rPr lang="en-US" sz="4100" dirty="0">
                <a:solidFill>
                  <a:srgbClr val="1B1B27"/>
                </a:solidFill>
                <a:latin typeface="Raleway" pitchFamily="34" charset="0"/>
                <a:ea typeface="Raleway" pitchFamily="34" charset="-122"/>
                <a:cs typeface="Raleway" pitchFamily="34" charset="-120"/>
              </a:rPr>
              <a:t>Deployment: Making the Knowledge Accessible</a:t>
            </a:r>
            <a:endParaRPr lang="en-US" sz="4100" dirty="0"/>
          </a:p>
        </p:txBody>
      </p:sp>
      <p:sp>
        <p:nvSpPr>
          <p:cNvPr id="4" name="Text 1"/>
          <p:cNvSpPr/>
          <p:nvPr/>
        </p:nvSpPr>
        <p:spPr>
          <a:xfrm>
            <a:off x="6218753" y="2122051"/>
            <a:ext cx="3178373" cy="392311"/>
          </a:xfrm>
          <a:prstGeom prst="rect">
            <a:avLst/>
          </a:prstGeom>
          <a:noFill/>
          <a:ln/>
        </p:spPr>
        <p:txBody>
          <a:bodyPr wrap="none" lIns="0" tIns="0" rIns="0" bIns="0" rtlCol="0" anchor="t"/>
          <a:lstStyle/>
          <a:p>
            <a:pPr marL="0" indent="0" algn="l">
              <a:lnSpc>
                <a:spcPts val="3050"/>
              </a:lnSpc>
              <a:buNone/>
            </a:pPr>
            <a:r>
              <a:rPr lang="en-US" sz="2450" dirty="0">
                <a:solidFill>
                  <a:srgbClr val="1B1B27"/>
                </a:solidFill>
                <a:latin typeface="Raleway" pitchFamily="34" charset="0"/>
                <a:ea typeface="Raleway" pitchFamily="34" charset="-122"/>
                <a:cs typeface="Raleway" pitchFamily="34" charset="-120"/>
              </a:rPr>
              <a:t>Streamlit Deployment</a:t>
            </a:r>
            <a:endParaRPr lang="en-US" sz="2450" dirty="0"/>
          </a:p>
        </p:txBody>
      </p:sp>
      <p:sp>
        <p:nvSpPr>
          <p:cNvPr id="5" name="Text 2"/>
          <p:cNvSpPr/>
          <p:nvPr/>
        </p:nvSpPr>
        <p:spPr>
          <a:xfrm>
            <a:off x="6218753" y="2828211"/>
            <a:ext cx="7679293" cy="669608"/>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To make the knowledge graph and its capabilities (like QA and centrality analysis) available to end-users, the application is deployed using Streamlit.</a:t>
            </a:r>
            <a:endParaRPr lang="en-US" sz="1600" dirty="0"/>
          </a:p>
        </p:txBody>
      </p:sp>
      <p:sp>
        <p:nvSpPr>
          <p:cNvPr id="6" name="Shape 3"/>
          <p:cNvSpPr/>
          <p:nvPr/>
        </p:nvSpPr>
        <p:spPr>
          <a:xfrm>
            <a:off x="6218753" y="3733205"/>
            <a:ext cx="7679293" cy="3765709"/>
          </a:xfrm>
          <a:prstGeom prst="roundRect">
            <a:avLst>
              <a:gd name="adj" fmla="val 2334"/>
            </a:avLst>
          </a:prstGeom>
          <a:solidFill>
            <a:srgbClr val="E1E1EA"/>
          </a:solidFill>
          <a:ln w="7620">
            <a:solidFill>
              <a:srgbClr val="C7C7D0"/>
            </a:solidFill>
            <a:prstDash val="solid"/>
          </a:ln>
        </p:spPr>
      </p:sp>
      <p:sp>
        <p:nvSpPr>
          <p:cNvPr id="7" name="Shape 4"/>
          <p:cNvSpPr/>
          <p:nvPr/>
        </p:nvSpPr>
        <p:spPr>
          <a:xfrm>
            <a:off x="6226373" y="3740825"/>
            <a:ext cx="3832027" cy="2210038"/>
          </a:xfrm>
          <a:prstGeom prst="roundRect">
            <a:avLst>
              <a:gd name="adj" fmla="val 3977"/>
            </a:avLst>
          </a:prstGeom>
          <a:solidFill>
            <a:srgbClr val="E1E1EA"/>
          </a:solidFill>
          <a:ln/>
        </p:spPr>
      </p:sp>
      <p:sp>
        <p:nvSpPr>
          <p:cNvPr id="8" name="Text 5"/>
          <p:cNvSpPr/>
          <p:nvPr/>
        </p:nvSpPr>
        <p:spPr>
          <a:xfrm>
            <a:off x="6435566" y="3950018"/>
            <a:ext cx="2648664" cy="326946"/>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Interactive Dashboard</a:t>
            </a:r>
            <a:endParaRPr lang="en-US" sz="2050" dirty="0"/>
          </a:p>
        </p:txBody>
      </p:sp>
      <p:sp>
        <p:nvSpPr>
          <p:cNvPr id="9" name="Text 6"/>
          <p:cNvSpPr/>
          <p:nvPr/>
        </p:nvSpPr>
        <p:spPr>
          <a:xfrm>
            <a:off x="6435566" y="4402455"/>
            <a:ext cx="3099792" cy="1004411"/>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Provides a simple, elegant web interface for querying the graph and visualizing results.</a:t>
            </a:r>
            <a:endParaRPr lang="en-US" sz="1600" dirty="0"/>
          </a:p>
        </p:txBody>
      </p:sp>
      <p:sp>
        <p:nvSpPr>
          <p:cNvPr id="10" name="Shape 7"/>
          <p:cNvSpPr/>
          <p:nvPr/>
        </p:nvSpPr>
        <p:spPr>
          <a:xfrm>
            <a:off x="10058400" y="3740825"/>
            <a:ext cx="3832027" cy="2210038"/>
          </a:xfrm>
          <a:prstGeom prst="rect">
            <a:avLst/>
          </a:prstGeom>
          <a:solidFill>
            <a:srgbClr val="E1E1EA"/>
          </a:solidFill>
          <a:ln/>
        </p:spPr>
      </p:sp>
      <p:sp>
        <p:nvSpPr>
          <p:cNvPr id="11" name="Shape 8"/>
          <p:cNvSpPr/>
          <p:nvPr/>
        </p:nvSpPr>
        <p:spPr>
          <a:xfrm>
            <a:off x="10058400" y="3740825"/>
            <a:ext cx="22860" cy="2210038"/>
          </a:xfrm>
          <a:prstGeom prst="roundRect">
            <a:avLst>
              <a:gd name="adj" fmla="val 384460"/>
            </a:avLst>
          </a:prstGeom>
          <a:solidFill>
            <a:srgbClr val="C7C7D0"/>
          </a:solidFill>
          <a:ln/>
        </p:spPr>
      </p:sp>
      <p:sp>
        <p:nvSpPr>
          <p:cNvPr id="12" name="Text 9"/>
          <p:cNvSpPr/>
          <p:nvPr/>
        </p:nvSpPr>
        <p:spPr>
          <a:xfrm>
            <a:off x="10581442" y="3950018"/>
            <a:ext cx="2615684" cy="326946"/>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Rapid Prototyping</a:t>
            </a:r>
            <a:endParaRPr lang="en-US" sz="2050" dirty="0"/>
          </a:p>
        </p:txBody>
      </p:sp>
      <p:sp>
        <p:nvSpPr>
          <p:cNvPr id="13" name="Text 10"/>
          <p:cNvSpPr/>
          <p:nvPr/>
        </p:nvSpPr>
        <p:spPr>
          <a:xfrm>
            <a:off x="10581442" y="4402455"/>
            <a:ext cx="3099792" cy="1339215"/>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Streamlit allows for fast transformation of data scripts into shareable web apps without extensive front-end development.</a:t>
            </a:r>
            <a:endParaRPr lang="en-US" sz="1600" dirty="0"/>
          </a:p>
        </p:txBody>
      </p:sp>
      <p:sp>
        <p:nvSpPr>
          <p:cNvPr id="14" name="Shape 11"/>
          <p:cNvSpPr/>
          <p:nvPr/>
        </p:nvSpPr>
        <p:spPr>
          <a:xfrm>
            <a:off x="9796939" y="4584323"/>
            <a:ext cx="523042" cy="523042"/>
          </a:xfrm>
          <a:prstGeom prst="roundRect">
            <a:avLst>
              <a:gd name="adj" fmla="val 16803"/>
            </a:avLst>
          </a:prstGeom>
          <a:solidFill>
            <a:srgbClr val="FFFFFF">
              <a:alpha val="95000"/>
            </a:srgbClr>
          </a:solidFill>
          <a:ln w="22860">
            <a:solidFill>
              <a:srgbClr val="C7C7D0"/>
            </a:solidFill>
            <a:prstDash val="solid"/>
          </a:ln>
        </p:spPr>
      </p:sp>
      <p:pic>
        <p:nvPicPr>
          <p:cNvPr id="15" name="Image 1" descr="preencoded.png"/>
          <p:cNvPicPr>
            <a:picLocks noChangeAspect="1"/>
          </p:cNvPicPr>
          <p:nvPr/>
        </p:nvPicPr>
        <p:blipFill>
          <a:blip r:embed="rId4"/>
          <a:stretch>
            <a:fillRect/>
          </a:stretch>
        </p:blipFill>
        <p:spPr>
          <a:xfrm>
            <a:off x="9927669" y="4682311"/>
            <a:ext cx="261461" cy="326946"/>
          </a:xfrm>
          <a:prstGeom prst="rect">
            <a:avLst/>
          </a:prstGeom>
        </p:spPr>
      </p:pic>
      <p:sp>
        <p:nvSpPr>
          <p:cNvPr id="16" name="Shape 12"/>
          <p:cNvSpPr/>
          <p:nvPr/>
        </p:nvSpPr>
        <p:spPr>
          <a:xfrm>
            <a:off x="6226373" y="5950863"/>
            <a:ext cx="7664053" cy="1540431"/>
          </a:xfrm>
          <a:prstGeom prst="rect">
            <a:avLst/>
          </a:prstGeom>
          <a:solidFill>
            <a:srgbClr val="E1E1EA"/>
          </a:solidFill>
          <a:ln/>
        </p:spPr>
      </p:sp>
      <p:sp>
        <p:nvSpPr>
          <p:cNvPr id="17" name="Shape 13"/>
          <p:cNvSpPr/>
          <p:nvPr/>
        </p:nvSpPr>
        <p:spPr>
          <a:xfrm>
            <a:off x="6226373" y="5950863"/>
            <a:ext cx="7664053" cy="22860"/>
          </a:xfrm>
          <a:prstGeom prst="roundRect">
            <a:avLst>
              <a:gd name="adj" fmla="val 384460"/>
            </a:avLst>
          </a:prstGeom>
          <a:solidFill>
            <a:srgbClr val="C7C7D0"/>
          </a:solidFill>
          <a:ln/>
        </p:spPr>
      </p:sp>
      <p:sp>
        <p:nvSpPr>
          <p:cNvPr id="18" name="Text 14"/>
          <p:cNvSpPr/>
          <p:nvPr/>
        </p:nvSpPr>
        <p:spPr>
          <a:xfrm>
            <a:off x="6435566" y="6160056"/>
            <a:ext cx="2615684" cy="326946"/>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Accessibility</a:t>
            </a:r>
            <a:endParaRPr lang="en-US" sz="2050" dirty="0"/>
          </a:p>
        </p:txBody>
      </p:sp>
      <p:sp>
        <p:nvSpPr>
          <p:cNvPr id="19" name="Text 15"/>
          <p:cNvSpPr/>
          <p:nvPr/>
        </p:nvSpPr>
        <p:spPr>
          <a:xfrm>
            <a:off x="6435566" y="6612493"/>
            <a:ext cx="6931819" cy="669608"/>
          </a:xfrm>
          <a:prstGeom prst="rect">
            <a:avLst/>
          </a:prstGeom>
          <a:noFill/>
          <a:ln/>
        </p:spPr>
        <p:txBody>
          <a:bodyPr wrap="square" lIns="0" tIns="0" rIns="0" bIns="0" rtlCol="0" anchor="t"/>
          <a:lstStyle/>
          <a:p>
            <a:pPr marL="0" indent="0" algn="l">
              <a:lnSpc>
                <a:spcPts val="2600"/>
              </a:lnSpc>
              <a:buNone/>
            </a:pPr>
            <a:r>
              <a:rPr lang="en-US" sz="1600" dirty="0">
                <a:solidFill>
                  <a:srgbClr val="3C3939"/>
                </a:solidFill>
                <a:latin typeface="Roboto" pitchFamily="34" charset="0"/>
                <a:ea typeface="Roboto" pitchFamily="34" charset="-122"/>
                <a:cs typeface="Roboto" pitchFamily="34" charset="-120"/>
              </a:rPr>
              <a:t>Enables non-technical stakeholders and researchers to interact with the sophisticated NLP and graph analysis outputs.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3167360" y="0"/>
            <a:ext cx="1463040" cy="8229600"/>
          </a:xfrm>
          <a:prstGeom prst="rect">
            <a:avLst/>
          </a:prstGeom>
          <a:solidFill>
            <a:srgbClr val="DFDFE0"/>
          </a:solidFill>
          <a:ln/>
        </p:spPr>
      </p:sp>
      <p:pic>
        <p:nvPicPr>
          <p:cNvPr id="3" name="Image 0" descr="preencoded.png"/>
          <p:cNvPicPr>
            <a:picLocks noChangeAspect="1"/>
          </p:cNvPicPr>
          <p:nvPr/>
        </p:nvPicPr>
        <p:blipFill>
          <a:blip r:embed="rId3"/>
          <a:stretch>
            <a:fillRect/>
          </a:stretch>
        </p:blipFill>
        <p:spPr>
          <a:xfrm>
            <a:off x="13167360" y="0"/>
            <a:ext cx="1463040" cy="8229600"/>
          </a:xfrm>
          <a:prstGeom prst="rect">
            <a:avLst/>
          </a:prstGeom>
        </p:spPr>
      </p:pic>
      <p:sp>
        <p:nvSpPr>
          <p:cNvPr id="4" name="Text 1"/>
          <p:cNvSpPr/>
          <p:nvPr/>
        </p:nvSpPr>
        <p:spPr>
          <a:xfrm>
            <a:off x="704612" y="554117"/>
            <a:ext cx="6856690" cy="629245"/>
          </a:xfrm>
          <a:prstGeom prst="rect">
            <a:avLst/>
          </a:prstGeom>
          <a:noFill/>
          <a:ln/>
        </p:spPr>
        <p:txBody>
          <a:bodyPr wrap="none" lIns="0" tIns="0" rIns="0" bIns="0" rtlCol="0" anchor="t"/>
          <a:lstStyle/>
          <a:p>
            <a:pPr marL="0" indent="0" algn="l">
              <a:lnSpc>
                <a:spcPts val="4950"/>
              </a:lnSpc>
              <a:buNone/>
            </a:pPr>
            <a:r>
              <a:rPr lang="en-US" sz="3950" dirty="0">
                <a:solidFill>
                  <a:srgbClr val="1B1B27"/>
                </a:solidFill>
                <a:latin typeface="Raleway" pitchFamily="34" charset="0"/>
                <a:ea typeface="Raleway" pitchFamily="34" charset="-122"/>
                <a:cs typeface="Raleway" pitchFamily="34" charset="-120"/>
              </a:rPr>
              <a:t>Conclusion and Future Scope</a:t>
            </a:r>
            <a:endParaRPr lang="en-US" sz="3950" dirty="0"/>
          </a:p>
        </p:txBody>
      </p:sp>
      <p:sp>
        <p:nvSpPr>
          <p:cNvPr id="5" name="Text 2"/>
          <p:cNvSpPr/>
          <p:nvPr/>
        </p:nvSpPr>
        <p:spPr>
          <a:xfrm>
            <a:off x="704612" y="1485305"/>
            <a:ext cx="11758136" cy="64412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Knowledge graphs offer a powerful framework for enhancing NLP by providing semantic context and structure to unstructured text. The presented workflow delivers a functional, queryable system for news analysis.</a:t>
            </a:r>
            <a:endParaRPr lang="en-US" sz="1550" dirty="0"/>
          </a:p>
        </p:txBody>
      </p:sp>
      <p:sp>
        <p:nvSpPr>
          <p:cNvPr id="6" name="Shape 3"/>
          <p:cNvSpPr/>
          <p:nvPr/>
        </p:nvSpPr>
        <p:spPr>
          <a:xfrm>
            <a:off x="704612" y="2355890"/>
            <a:ext cx="22860" cy="4448889"/>
          </a:xfrm>
          <a:prstGeom prst="roundRect">
            <a:avLst>
              <a:gd name="adj" fmla="val 369916"/>
            </a:avLst>
          </a:prstGeom>
          <a:solidFill>
            <a:srgbClr val="C7C7D0"/>
          </a:solidFill>
          <a:ln/>
        </p:spPr>
      </p:sp>
      <p:sp>
        <p:nvSpPr>
          <p:cNvPr id="7" name="Shape 4"/>
          <p:cNvSpPr/>
          <p:nvPr/>
        </p:nvSpPr>
        <p:spPr>
          <a:xfrm>
            <a:off x="727472" y="2355890"/>
            <a:ext cx="11758136" cy="2023110"/>
          </a:xfrm>
          <a:prstGeom prst="rect">
            <a:avLst/>
          </a:prstGeom>
          <a:solidFill>
            <a:srgbClr val="E1E1EA"/>
          </a:solidFill>
          <a:ln w="7620">
            <a:solidFill>
              <a:srgbClr val="C7C7D0"/>
            </a:solidFill>
            <a:prstDash val="solid"/>
          </a:ln>
        </p:spPr>
      </p:sp>
      <p:sp>
        <p:nvSpPr>
          <p:cNvPr id="8" name="Text 5"/>
          <p:cNvSpPr/>
          <p:nvPr/>
        </p:nvSpPr>
        <p:spPr>
          <a:xfrm>
            <a:off x="928807" y="2564844"/>
            <a:ext cx="3020020" cy="377547"/>
          </a:xfrm>
          <a:prstGeom prst="rect">
            <a:avLst/>
          </a:prstGeom>
          <a:noFill/>
          <a:ln/>
        </p:spPr>
        <p:txBody>
          <a:bodyPr wrap="none" lIns="0" tIns="0" rIns="0" bIns="0" rtlCol="0" anchor="t"/>
          <a:lstStyle/>
          <a:p>
            <a:pPr marL="0" indent="0" algn="l">
              <a:lnSpc>
                <a:spcPts val="2950"/>
              </a:lnSpc>
              <a:buNone/>
            </a:pPr>
            <a:r>
              <a:rPr lang="en-US" sz="2350" dirty="0">
                <a:solidFill>
                  <a:srgbClr val="3C3939"/>
                </a:solidFill>
                <a:latin typeface="Raleway" pitchFamily="34" charset="0"/>
                <a:ea typeface="Raleway" pitchFamily="34" charset="-122"/>
                <a:cs typeface="Raleway" pitchFamily="34" charset="-120"/>
              </a:rPr>
              <a:t>Key Takeaways</a:t>
            </a:r>
            <a:endParaRPr lang="en-US" sz="2350" dirty="0"/>
          </a:p>
        </p:txBody>
      </p:sp>
      <p:sp>
        <p:nvSpPr>
          <p:cNvPr id="9" name="Text 6"/>
          <p:cNvSpPr/>
          <p:nvPr/>
        </p:nvSpPr>
        <p:spPr>
          <a:xfrm>
            <a:off x="928807" y="3063121"/>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KGs enable sophisticated reasoning over text data.</a:t>
            </a:r>
            <a:endParaRPr lang="en-US" sz="1550" dirty="0"/>
          </a:p>
        </p:txBody>
      </p:sp>
      <p:sp>
        <p:nvSpPr>
          <p:cNvPr id="10" name="Text 7"/>
          <p:cNvSpPr/>
          <p:nvPr/>
        </p:nvSpPr>
        <p:spPr>
          <a:xfrm>
            <a:off x="928807" y="3455551"/>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Graph analysis techniques reveal hidden network structures.</a:t>
            </a:r>
            <a:endParaRPr lang="en-US" sz="1550" dirty="0"/>
          </a:p>
        </p:txBody>
      </p:sp>
      <p:sp>
        <p:nvSpPr>
          <p:cNvPr id="11" name="Text 8"/>
          <p:cNvSpPr/>
          <p:nvPr/>
        </p:nvSpPr>
        <p:spPr>
          <a:xfrm>
            <a:off x="928807" y="3847981"/>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The end-to-end system can be deployed efficiently using modern tools.</a:t>
            </a:r>
            <a:endParaRPr lang="en-US" sz="1550" dirty="0"/>
          </a:p>
        </p:txBody>
      </p:sp>
      <p:sp>
        <p:nvSpPr>
          <p:cNvPr id="12" name="Shape 9"/>
          <p:cNvSpPr/>
          <p:nvPr/>
        </p:nvSpPr>
        <p:spPr>
          <a:xfrm>
            <a:off x="727472" y="4781669"/>
            <a:ext cx="11758136" cy="2023110"/>
          </a:xfrm>
          <a:prstGeom prst="rect">
            <a:avLst/>
          </a:prstGeom>
          <a:solidFill>
            <a:srgbClr val="E1E1EA"/>
          </a:solidFill>
          <a:ln w="7620">
            <a:solidFill>
              <a:srgbClr val="C7C7D0"/>
            </a:solidFill>
            <a:prstDash val="solid"/>
          </a:ln>
        </p:spPr>
      </p:sp>
      <p:sp>
        <p:nvSpPr>
          <p:cNvPr id="13" name="Text 10"/>
          <p:cNvSpPr/>
          <p:nvPr/>
        </p:nvSpPr>
        <p:spPr>
          <a:xfrm>
            <a:off x="928807" y="4990624"/>
            <a:ext cx="3020020" cy="377547"/>
          </a:xfrm>
          <a:prstGeom prst="rect">
            <a:avLst/>
          </a:prstGeom>
          <a:noFill/>
          <a:ln/>
        </p:spPr>
        <p:txBody>
          <a:bodyPr wrap="none" lIns="0" tIns="0" rIns="0" bIns="0" rtlCol="0" anchor="t"/>
          <a:lstStyle/>
          <a:p>
            <a:pPr marL="0" indent="0" algn="l">
              <a:lnSpc>
                <a:spcPts val="2950"/>
              </a:lnSpc>
              <a:buNone/>
            </a:pPr>
            <a:r>
              <a:rPr lang="en-US" sz="2350" dirty="0">
                <a:solidFill>
                  <a:srgbClr val="3C3939"/>
                </a:solidFill>
                <a:latin typeface="Raleway" pitchFamily="34" charset="0"/>
                <a:ea typeface="Raleway" pitchFamily="34" charset="-122"/>
                <a:cs typeface="Raleway" pitchFamily="34" charset="-120"/>
              </a:rPr>
              <a:t>Future Directions</a:t>
            </a:r>
            <a:endParaRPr lang="en-US" sz="2350" dirty="0"/>
          </a:p>
        </p:txBody>
      </p:sp>
      <p:sp>
        <p:nvSpPr>
          <p:cNvPr id="14" name="Text 11"/>
          <p:cNvSpPr/>
          <p:nvPr/>
        </p:nvSpPr>
        <p:spPr>
          <a:xfrm>
            <a:off x="928807" y="5488900"/>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Integrate temporal dynamics into the graph for event tracking.</a:t>
            </a:r>
            <a:endParaRPr lang="en-US" sz="1550" dirty="0"/>
          </a:p>
        </p:txBody>
      </p:sp>
      <p:sp>
        <p:nvSpPr>
          <p:cNvPr id="15" name="Text 12"/>
          <p:cNvSpPr/>
          <p:nvPr/>
        </p:nvSpPr>
        <p:spPr>
          <a:xfrm>
            <a:off x="928807" y="5881330"/>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Apply Graph Neural Networks (GNNs) for link prediction and entity classification.</a:t>
            </a:r>
            <a:endParaRPr lang="en-US" sz="1550" dirty="0"/>
          </a:p>
        </p:txBody>
      </p:sp>
      <p:sp>
        <p:nvSpPr>
          <p:cNvPr id="16" name="Text 13"/>
          <p:cNvSpPr/>
          <p:nvPr/>
        </p:nvSpPr>
        <p:spPr>
          <a:xfrm>
            <a:off x="928807" y="6273760"/>
            <a:ext cx="11347847" cy="322064"/>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C3939"/>
                </a:solidFill>
                <a:latin typeface="Roboto" pitchFamily="34" charset="0"/>
                <a:ea typeface="Roboto" pitchFamily="34" charset="-122"/>
                <a:cs typeface="Roboto" pitchFamily="34" charset="-120"/>
              </a:rPr>
              <a:t>Expand the QA system to handle multi-hop reasoning and complex questions.</a:t>
            </a:r>
            <a:endParaRPr lang="en-US" sz="1550" dirty="0"/>
          </a:p>
        </p:txBody>
      </p:sp>
      <p:sp>
        <p:nvSpPr>
          <p:cNvPr id="17" name="Text 14"/>
          <p:cNvSpPr/>
          <p:nvPr/>
        </p:nvSpPr>
        <p:spPr>
          <a:xfrm>
            <a:off x="704612" y="7031236"/>
            <a:ext cx="11758136" cy="644128"/>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Roboto" pitchFamily="34" charset="0"/>
                <a:ea typeface="Roboto" pitchFamily="34" charset="-122"/>
                <a:cs typeface="Roboto" pitchFamily="34" charset="-120"/>
              </a:rPr>
              <a:t>Adopting knowledge graph methodology is essential for NLP practitioners seeking to build robust, explainable, and context-aware applications.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sp>
      <p:sp>
        <p:nvSpPr>
          <p:cNvPr id="4" name="Text 1"/>
          <p:cNvSpPr/>
          <p:nvPr/>
        </p:nvSpPr>
        <p:spPr>
          <a:xfrm>
            <a:off x="1644491" y="3054429"/>
            <a:ext cx="11341298" cy="1417677"/>
          </a:xfrm>
          <a:prstGeom prst="rect">
            <a:avLst/>
          </a:prstGeom>
          <a:noFill/>
          <a:ln/>
        </p:spPr>
        <p:txBody>
          <a:bodyPr wrap="none" lIns="0" tIns="0" rIns="0" bIns="0" rtlCol="0" anchor="t"/>
          <a:lstStyle/>
          <a:p>
            <a:pPr marL="0" indent="0" algn="ctr">
              <a:lnSpc>
                <a:spcPts val="11150"/>
              </a:lnSpc>
              <a:buNone/>
            </a:pPr>
            <a:r>
              <a:rPr lang="en-US" sz="8900" b="1" dirty="0">
                <a:solidFill>
                  <a:srgbClr val="1B1B27"/>
                </a:solidFill>
                <a:latin typeface="Raleway" pitchFamily="34" charset="0"/>
                <a:ea typeface="Raleway" pitchFamily="34" charset="-122"/>
                <a:cs typeface="Raleway" pitchFamily="34" charset="-120"/>
              </a:rPr>
              <a:t>Thank You</a:t>
            </a:r>
            <a:endParaRPr lang="en-US" sz="8900" dirty="0"/>
          </a:p>
        </p:txBody>
      </p:sp>
      <p:sp>
        <p:nvSpPr>
          <p:cNvPr id="5" name="Text 2"/>
          <p:cNvSpPr/>
          <p:nvPr/>
        </p:nvSpPr>
        <p:spPr>
          <a:xfrm>
            <a:off x="793790" y="4812268"/>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1866</Words>
  <Application>Microsoft Office PowerPoint</Application>
  <PresentationFormat>Custom</PresentationFormat>
  <Paragraphs>178</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Consolas</vt:lpstr>
      <vt:lpstr>Microsoft YaHei</vt:lpstr>
      <vt:lpstr>Arial</vt:lpstr>
      <vt:lpstr>Roboto</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Isha Sudarshini</cp:lastModifiedBy>
  <cp:revision>2</cp:revision>
  <dcterms:created xsi:type="dcterms:W3CDTF">2025-10-14T14:57:56Z</dcterms:created>
  <dcterms:modified xsi:type="dcterms:W3CDTF">2025-10-14T15:00:56Z</dcterms:modified>
</cp:coreProperties>
</file>